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111"/>
    <a:srgbClr val="A2A2A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57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sv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sv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73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12" Type="http://schemas.openxmlformats.org/officeDocument/2006/relationships/image" Target="../media/image7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7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78.png"/><Relationship Id="rId2" Type="http://schemas.openxmlformats.org/officeDocument/2006/relationships/image" Target="../media/image23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7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82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12" Type="http://schemas.openxmlformats.org/officeDocument/2006/relationships/image" Target="../media/image8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8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40.sv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sv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41.png"/><Relationship Id="rId9" Type="http://schemas.openxmlformats.org/officeDocument/2006/relationships/image" Target="../media/image9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10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56.svg"/><Relationship Id="rId7" Type="http://schemas.openxmlformats.org/officeDocument/2006/relationships/image" Target="../media/image10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57.png"/><Relationship Id="rId9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62933" y="3673054"/>
            <a:ext cx="5487994" cy="5446834"/>
          </a:xfrm>
          <a:custGeom>
            <a:avLst/>
            <a:gdLst/>
            <a:ahLst/>
            <a:cxnLst/>
            <a:rect l="l" t="t" r="r" b="b"/>
            <a:pathLst>
              <a:path w="5487994" h="5446834">
                <a:moveTo>
                  <a:pt x="0" y="0"/>
                </a:moveTo>
                <a:lnTo>
                  <a:pt x="5487994" y="0"/>
                </a:lnTo>
                <a:lnTo>
                  <a:pt x="5487994" y="5446835"/>
                </a:lnTo>
                <a:lnTo>
                  <a:pt x="0" y="54468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" r="-1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81414" y="8350642"/>
            <a:ext cx="8853697" cy="269324"/>
            <a:chOff x="0" y="0"/>
            <a:chExt cx="2487343" cy="756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7344" cy="75663"/>
            </a:xfrm>
            <a:custGeom>
              <a:avLst/>
              <a:gdLst/>
              <a:ahLst/>
              <a:cxnLst/>
              <a:rect l="l" t="t" r="r" b="b"/>
              <a:pathLst>
                <a:path w="2487344" h="75663">
                  <a:moveTo>
                    <a:pt x="37832" y="0"/>
                  </a:moveTo>
                  <a:lnTo>
                    <a:pt x="2449512" y="0"/>
                  </a:lnTo>
                  <a:cubicBezTo>
                    <a:pt x="2470406" y="0"/>
                    <a:pt x="2487344" y="16938"/>
                    <a:pt x="2487344" y="37832"/>
                  </a:cubicBezTo>
                  <a:lnTo>
                    <a:pt x="2487344" y="37832"/>
                  </a:lnTo>
                  <a:cubicBezTo>
                    <a:pt x="2487344" y="47865"/>
                    <a:pt x="2483358" y="57488"/>
                    <a:pt x="2476263" y="64583"/>
                  </a:cubicBezTo>
                  <a:cubicBezTo>
                    <a:pt x="2469168" y="71678"/>
                    <a:pt x="2459545" y="75663"/>
                    <a:pt x="2449512" y="75663"/>
                  </a:cubicBezTo>
                  <a:lnTo>
                    <a:pt x="37832" y="75663"/>
                  </a:lnTo>
                  <a:cubicBezTo>
                    <a:pt x="16938" y="75663"/>
                    <a:pt x="0" y="58726"/>
                    <a:pt x="0" y="37832"/>
                  </a:cubicBezTo>
                  <a:lnTo>
                    <a:pt x="0" y="37832"/>
                  </a:lnTo>
                  <a:cubicBezTo>
                    <a:pt x="0" y="16938"/>
                    <a:pt x="16938" y="0"/>
                    <a:pt x="37832" y="0"/>
                  </a:cubicBezTo>
                  <a:close/>
                </a:path>
              </a:pathLst>
            </a:custGeom>
            <a:solidFill>
              <a:srgbClr val="6BB3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487343" cy="104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4237" y="8350642"/>
            <a:ext cx="5565296" cy="269324"/>
            <a:chOff x="0" y="0"/>
            <a:chExt cx="1563505" cy="756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63505" cy="75663"/>
            </a:xfrm>
            <a:custGeom>
              <a:avLst/>
              <a:gdLst/>
              <a:ahLst/>
              <a:cxnLst/>
              <a:rect l="l" t="t" r="r" b="b"/>
              <a:pathLst>
                <a:path w="1563505" h="75663">
                  <a:moveTo>
                    <a:pt x="37832" y="0"/>
                  </a:moveTo>
                  <a:lnTo>
                    <a:pt x="1525674" y="0"/>
                  </a:lnTo>
                  <a:cubicBezTo>
                    <a:pt x="1535707" y="0"/>
                    <a:pt x="1545330" y="3986"/>
                    <a:pt x="1552425" y="11081"/>
                  </a:cubicBezTo>
                  <a:cubicBezTo>
                    <a:pt x="1559520" y="18175"/>
                    <a:pt x="1563505" y="27798"/>
                    <a:pt x="1563505" y="37832"/>
                  </a:cubicBezTo>
                  <a:lnTo>
                    <a:pt x="1563505" y="37832"/>
                  </a:lnTo>
                  <a:cubicBezTo>
                    <a:pt x="1563505" y="58726"/>
                    <a:pt x="1546568" y="75663"/>
                    <a:pt x="1525674" y="75663"/>
                  </a:cubicBezTo>
                  <a:lnTo>
                    <a:pt x="37832" y="75663"/>
                  </a:lnTo>
                  <a:cubicBezTo>
                    <a:pt x="16938" y="75663"/>
                    <a:pt x="0" y="58726"/>
                    <a:pt x="0" y="37832"/>
                  </a:cubicBezTo>
                  <a:lnTo>
                    <a:pt x="0" y="37832"/>
                  </a:lnTo>
                  <a:cubicBezTo>
                    <a:pt x="0" y="16938"/>
                    <a:pt x="16938" y="0"/>
                    <a:pt x="37832" y="0"/>
                  </a:cubicBezTo>
                  <a:close/>
                </a:path>
              </a:pathLst>
            </a:custGeom>
            <a:solidFill>
              <a:srgbClr val="6BB3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563505" cy="104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1976550" y="7991420"/>
            <a:ext cx="1060024" cy="1052545"/>
          </a:xfrm>
          <a:custGeom>
            <a:avLst/>
            <a:gdLst/>
            <a:ahLst/>
            <a:cxnLst/>
            <a:rect l="l" t="t" r="r" b="b"/>
            <a:pathLst>
              <a:path w="1060024" h="1052545">
                <a:moveTo>
                  <a:pt x="0" y="0"/>
                </a:moveTo>
                <a:lnTo>
                  <a:pt x="1060024" y="0"/>
                </a:lnTo>
                <a:lnTo>
                  <a:pt x="1060024" y="1052545"/>
                </a:lnTo>
                <a:lnTo>
                  <a:pt x="0" y="10525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2022896" y="7889149"/>
            <a:ext cx="972756" cy="1131934"/>
            <a:chOff x="0" y="0"/>
            <a:chExt cx="6985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18449"/>
              <a:ext cx="698500" cy="775902"/>
            </a:xfrm>
            <a:custGeom>
              <a:avLst/>
              <a:gdLst/>
              <a:ahLst/>
              <a:cxnLst/>
              <a:rect l="l" t="t" r="r" b="b"/>
              <a:pathLst>
                <a:path w="698500" h="775902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35937" y="8020687"/>
            <a:ext cx="746675" cy="868858"/>
            <a:chOff x="0" y="0"/>
            <a:chExt cx="6985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12018"/>
              <a:ext cx="698500" cy="788765"/>
            </a:xfrm>
            <a:custGeom>
              <a:avLst/>
              <a:gdLst/>
              <a:ahLst/>
              <a:cxnLst/>
              <a:rect l="l" t="t" r="r" b="b"/>
              <a:pathLst>
                <a:path w="698500" h="788765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AB87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 rot="5400000">
            <a:off x="5965991" y="8056353"/>
            <a:ext cx="1050172" cy="921526"/>
          </a:xfrm>
          <a:custGeom>
            <a:avLst/>
            <a:gdLst/>
            <a:ahLst/>
            <a:cxnLst/>
            <a:rect l="l" t="t" r="r" b="b"/>
            <a:pathLst>
              <a:path w="1050172" h="921526">
                <a:moveTo>
                  <a:pt x="0" y="0"/>
                </a:moveTo>
                <a:lnTo>
                  <a:pt x="1050172" y="0"/>
                </a:lnTo>
                <a:lnTo>
                  <a:pt x="1050172" y="921526"/>
                </a:lnTo>
                <a:lnTo>
                  <a:pt x="0" y="921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7" name="Group 17"/>
          <p:cNvGrpSpPr/>
          <p:nvPr/>
        </p:nvGrpSpPr>
        <p:grpSpPr>
          <a:xfrm>
            <a:off x="6004346" y="7889149"/>
            <a:ext cx="972756" cy="1131934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18449"/>
              <a:ext cx="698500" cy="775902"/>
            </a:xfrm>
            <a:custGeom>
              <a:avLst/>
              <a:gdLst/>
              <a:ahLst/>
              <a:cxnLst/>
              <a:rect l="l" t="t" r="r" b="b"/>
              <a:pathLst>
                <a:path w="698500" h="775902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17387" y="8020687"/>
            <a:ext cx="746675" cy="868858"/>
            <a:chOff x="0" y="0"/>
            <a:chExt cx="6985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12018"/>
              <a:ext cx="698500" cy="788765"/>
            </a:xfrm>
            <a:custGeom>
              <a:avLst/>
              <a:gdLst/>
              <a:ahLst/>
              <a:cxnLst/>
              <a:rect l="l" t="t" r="r" b="b"/>
              <a:pathLst>
                <a:path w="698500" h="788765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27ED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Freeform 23"/>
          <p:cNvSpPr/>
          <p:nvPr/>
        </p:nvSpPr>
        <p:spPr>
          <a:xfrm rot="5400000">
            <a:off x="14805736" y="8040207"/>
            <a:ext cx="1407098" cy="955808"/>
          </a:xfrm>
          <a:custGeom>
            <a:avLst/>
            <a:gdLst/>
            <a:ahLst/>
            <a:cxnLst/>
            <a:rect l="l" t="t" r="r" b="b"/>
            <a:pathLst>
              <a:path w="1407098" h="955808">
                <a:moveTo>
                  <a:pt x="0" y="0"/>
                </a:moveTo>
                <a:lnTo>
                  <a:pt x="1407098" y="0"/>
                </a:lnTo>
                <a:lnTo>
                  <a:pt x="1407098" y="955809"/>
                </a:lnTo>
                <a:lnTo>
                  <a:pt x="0" y="955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2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4" name="Group 24"/>
          <p:cNvGrpSpPr/>
          <p:nvPr/>
        </p:nvGrpSpPr>
        <p:grpSpPr>
          <a:xfrm>
            <a:off x="14987686" y="7889149"/>
            <a:ext cx="972756" cy="1131934"/>
            <a:chOff x="0" y="0"/>
            <a:chExt cx="6985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18449"/>
              <a:ext cx="698500" cy="775902"/>
            </a:xfrm>
            <a:custGeom>
              <a:avLst/>
              <a:gdLst/>
              <a:ahLst/>
              <a:cxnLst/>
              <a:rect l="l" t="t" r="r" b="b"/>
              <a:pathLst>
                <a:path w="698500" h="775902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100727" y="8020687"/>
            <a:ext cx="746675" cy="868858"/>
            <a:chOff x="0" y="0"/>
            <a:chExt cx="6985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12018"/>
              <a:ext cx="698500" cy="788765"/>
            </a:xfrm>
            <a:custGeom>
              <a:avLst/>
              <a:gdLst/>
              <a:ahLst/>
              <a:cxnLst/>
              <a:rect l="l" t="t" r="r" b="b"/>
              <a:pathLst>
                <a:path w="698500" h="788765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FD50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974245" y="6417816"/>
            <a:ext cx="3032958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Yêu cầu nguồn mở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957585" y="6417816"/>
            <a:ext cx="3032958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Kết quả mong đợi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74245" y="6819406"/>
            <a:ext cx="3032958" cy="44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8"/>
              </a:lnSpc>
            </a:pPr>
            <a:r>
              <a:rPr lang="en-US" sz="1305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Hiểu đúng tiêu chuẩn mã nguồn mở, giấy phép OSI và cách công khai dự án.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957585" y="6819406"/>
            <a:ext cx="3032958" cy="44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8"/>
              </a:lnSpc>
            </a:pPr>
            <a:r>
              <a:rPr lang="en-US" sz="1305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Mỗi nhóm có ý tưởng sơ bộ với 01 vấn đề, 01 luồng chính, 01 điểm sáng tạo.</a:t>
            </a:r>
          </a:p>
        </p:txBody>
      </p:sp>
      <p:sp>
        <p:nvSpPr>
          <p:cNvPr id="34" name="Freeform 34"/>
          <p:cNvSpPr/>
          <p:nvPr/>
        </p:nvSpPr>
        <p:spPr>
          <a:xfrm rot="5400000">
            <a:off x="12569025" y="5054580"/>
            <a:ext cx="1279319" cy="1123303"/>
          </a:xfrm>
          <a:custGeom>
            <a:avLst/>
            <a:gdLst/>
            <a:ahLst/>
            <a:cxnLst/>
            <a:rect l="l" t="t" r="r" b="b"/>
            <a:pathLst>
              <a:path w="1279319" h="1123303">
                <a:moveTo>
                  <a:pt x="0" y="0"/>
                </a:moveTo>
                <a:lnTo>
                  <a:pt x="1279319" y="0"/>
                </a:lnTo>
                <a:lnTo>
                  <a:pt x="1279319" y="1123303"/>
                </a:lnTo>
                <a:lnTo>
                  <a:pt x="0" y="1123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2000"/>
            </a:blip>
            <a:stretch>
              <a:fillRect l="-680" r="-680"/>
            </a:stretch>
          </a:blipFill>
          <a:ln cap="sq">
            <a:noFill/>
            <a:prstDash val="solid"/>
            <a:miter/>
          </a:ln>
        </p:spPr>
      </p:sp>
      <p:grpSp>
        <p:nvGrpSpPr>
          <p:cNvPr id="35" name="Group 35"/>
          <p:cNvGrpSpPr/>
          <p:nvPr/>
        </p:nvGrpSpPr>
        <p:grpSpPr>
          <a:xfrm>
            <a:off x="12722307" y="4976572"/>
            <a:ext cx="972756" cy="1131934"/>
            <a:chOff x="0" y="0"/>
            <a:chExt cx="6985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18449"/>
              <a:ext cx="698500" cy="775902"/>
            </a:xfrm>
            <a:custGeom>
              <a:avLst/>
              <a:gdLst/>
              <a:ahLst/>
              <a:cxnLst/>
              <a:rect l="l" t="t" r="r" b="b"/>
              <a:pathLst>
                <a:path w="698500" h="775902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835347" y="5108110"/>
            <a:ext cx="746675" cy="868858"/>
            <a:chOff x="0" y="0"/>
            <a:chExt cx="6985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12018"/>
              <a:ext cx="698500" cy="788765"/>
            </a:xfrm>
            <a:custGeom>
              <a:avLst/>
              <a:gdLst/>
              <a:ahLst/>
              <a:cxnLst/>
              <a:rect l="l" t="t" r="r" b="b"/>
              <a:pathLst>
                <a:path w="698500" h="788765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F94A0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1" name="Freeform 41"/>
          <p:cNvSpPr/>
          <p:nvPr/>
        </p:nvSpPr>
        <p:spPr>
          <a:xfrm rot="5400000">
            <a:off x="8119001" y="5054580"/>
            <a:ext cx="1279319" cy="1123303"/>
          </a:xfrm>
          <a:custGeom>
            <a:avLst/>
            <a:gdLst/>
            <a:ahLst/>
            <a:cxnLst/>
            <a:rect l="l" t="t" r="r" b="b"/>
            <a:pathLst>
              <a:path w="1279319" h="1123303">
                <a:moveTo>
                  <a:pt x="0" y="0"/>
                </a:moveTo>
                <a:lnTo>
                  <a:pt x="1279319" y="0"/>
                </a:lnTo>
                <a:lnTo>
                  <a:pt x="1279319" y="1123303"/>
                </a:lnTo>
                <a:lnTo>
                  <a:pt x="0" y="1123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2000"/>
            </a:blip>
            <a:stretch>
              <a:fillRect l="-680" r="-680"/>
            </a:stretch>
          </a:blipFill>
          <a:ln cap="sq">
            <a:noFill/>
            <a:prstDash val="solid"/>
            <a:miter/>
          </a:ln>
        </p:spPr>
      </p:sp>
      <p:grpSp>
        <p:nvGrpSpPr>
          <p:cNvPr id="42" name="Group 42"/>
          <p:cNvGrpSpPr/>
          <p:nvPr/>
        </p:nvGrpSpPr>
        <p:grpSpPr>
          <a:xfrm>
            <a:off x="8272282" y="4976572"/>
            <a:ext cx="972756" cy="1131934"/>
            <a:chOff x="0" y="0"/>
            <a:chExt cx="6985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18449"/>
              <a:ext cx="698500" cy="775902"/>
            </a:xfrm>
            <a:custGeom>
              <a:avLst/>
              <a:gdLst/>
              <a:ahLst/>
              <a:cxnLst/>
              <a:rect l="l" t="t" r="r" b="b"/>
              <a:pathLst>
                <a:path w="698500" h="775902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385323" y="5108110"/>
            <a:ext cx="746675" cy="868858"/>
            <a:chOff x="0" y="0"/>
            <a:chExt cx="6985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12018"/>
              <a:ext cx="698500" cy="788765"/>
            </a:xfrm>
            <a:custGeom>
              <a:avLst/>
              <a:gdLst/>
              <a:ahLst/>
              <a:cxnLst/>
              <a:rect l="l" t="t" r="r" b="b"/>
              <a:pathLst>
                <a:path w="698500" h="788765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FB376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6022476" y="3655638"/>
            <a:ext cx="3014272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Tiêu</a:t>
            </a:r>
            <a:r>
              <a:rPr lang="en-US" sz="1798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17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chí</a:t>
            </a:r>
            <a:r>
              <a:rPr lang="en-US" sz="1798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17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chấm</a:t>
            </a:r>
            <a:endParaRPr lang="en-US" sz="1798" b="1" dirty="0">
              <a:solidFill>
                <a:srgbClr val="000000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2932815" y="3655638"/>
            <a:ext cx="3009837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Chọn hướng ý tưởng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022476" y="4057228"/>
            <a:ext cx="3014272" cy="44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8"/>
              </a:lnSpc>
            </a:pP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Hiểu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rõ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PoF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và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tiêu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chí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đánh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giá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sản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phẩm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tại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vòng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chung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305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kết</a:t>
            </a:r>
            <a:r>
              <a:rPr lang="en-US" sz="1305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932815" y="4057228"/>
            <a:ext cx="3009837" cy="44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8"/>
              </a:lnSpc>
            </a:pPr>
            <a:r>
              <a:rPr lang="en-US" sz="1305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Chọn đúng phạm vi: 1 vấn đề, 1 luồng xử lý, 1 điểm sáng tạo.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99984" y="6417816"/>
            <a:ext cx="301858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Hiểu cuộc thi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99984" y="6819406"/>
            <a:ext cx="3018580" cy="44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8"/>
              </a:lnSpc>
            </a:pPr>
            <a:r>
              <a:rPr lang="en-US" sz="1305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Nắm đúng định hướng và yêu cầu cuộc thi PMNM – OLP 2026.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91178" y="628650"/>
            <a:ext cx="12033998" cy="828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1"/>
              </a:lnSpc>
            </a:pPr>
            <a:r>
              <a:rPr lang="en-US" sz="5596" b="1" dirty="0" err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Chào</a:t>
            </a:r>
            <a:r>
              <a:rPr lang="en-US" sz="5596" b="1" dirty="0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 </a:t>
            </a:r>
            <a:r>
              <a:rPr lang="en-US" sz="5596" b="1" dirty="0" err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mừng</a:t>
            </a:r>
            <a:r>
              <a:rPr lang="en-US" sz="5596" b="1" dirty="0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 &amp; </a:t>
            </a:r>
            <a:r>
              <a:rPr lang="en-US" sz="5596" b="1" dirty="0" err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Mục</a:t>
            </a:r>
            <a:r>
              <a:rPr lang="en-US" sz="5596" b="1" dirty="0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 </a:t>
            </a:r>
            <a:r>
              <a:rPr lang="en-US" sz="5596" b="1" dirty="0" err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tiêu</a:t>
            </a:r>
            <a:r>
              <a:rPr lang="en-US" sz="5596" b="1" dirty="0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 </a:t>
            </a:r>
            <a:r>
              <a:rPr lang="en-US" sz="5596" b="1" dirty="0" err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buổi</a:t>
            </a:r>
            <a:r>
              <a:rPr lang="en-US" sz="5596" b="1" dirty="0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 </a:t>
            </a:r>
            <a:r>
              <a:rPr lang="en-US" sz="5596" b="1" dirty="0" err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học</a:t>
            </a:r>
            <a:endParaRPr lang="en-US" sz="5596" b="1" dirty="0">
              <a:solidFill>
                <a:srgbClr val="140574"/>
              </a:solidFill>
              <a:latin typeface="Times New Roman" panose="02020603050405020304" pitchFamily="18" charset="0"/>
              <a:ea typeface="Open Sauce Bold"/>
              <a:cs typeface="Times New Roman" panose="02020603050405020304" pitchFamily="18" charset="0"/>
              <a:sym typeface="Open Sauce 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591178" y="1636828"/>
            <a:ext cx="12033998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Đào tạo sinh viên tham gia PMNM – OLP 2026 | Chủ đề: Xây dựng DX-OS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4018564" y="7746828"/>
            <a:ext cx="934436" cy="1476953"/>
            <a:chOff x="0" y="0"/>
            <a:chExt cx="1245915" cy="1969271"/>
          </a:xfrm>
        </p:grpSpPr>
        <p:grpSp>
          <p:nvGrpSpPr>
            <p:cNvPr id="57" name="Group 57"/>
            <p:cNvGrpSpPr/>
            <p:nvPr/>
          </p:nvGrpSpPr>
          <p:grpSpPr>
            <a:xfrm rot="2700000">
              <a:off x="-41282" y="427997"/>
              <a:ext cx="1359301" cy="359099"/>
              <a:chOff x="0" y="0"/>
              <a:chExt cx="286410" cy="7566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286410" cy="75663"/>
              </a:xfrm>
              <a:custGeom>
                <a:avLst/>
                <a:gdLst/>
                <a:ahLst/>
                <a:cxnLst/>
                <a:rect l="l" t="t" r="r" b="b"/>
                <a:pathLst>
                  <a:path w="286410" h="75663">
                    <a:moveTo>
                      <a:pt x="37832" y="0"/>
                    </a:moveTo>
                    <a:lnTo>
                      <a:pt x="248578" y="0"/>
                    </a:lnTo>
                    <a:cubicBezTo>
                      <a:pt x="269472" y="0"/>
                      <a:pt x="286410" y="16938"/>
                      <a:pt x="286410" y="37832"/>
                    </a:cubicBezTo>
                    <a:lnTo>
                      <a:pt x="286410" y="37832"/>
                    </a:lnTo>
                    <a:cubicBezTo>
                      <a:pt x="286410" y="47865"/>
                      <a:pt x="282424" y="57488"/>
                      <a:pt x="275329" y="64583"/>
                    </a:cubicBezTo>
                    <a:cubicBezTo>
                      <a:pt x="268234" y="71678"/>
                      <a:pt x="258612" y="75663"/>
                      <a:pt x="248578" y="75663"/>
                    </a:cubicBezTo>
                    <a:lnTo>
                      <a:pt x="37832" y="75663"/>
                    </a:lnTo>
                    <a:cubicBezTo>
                      <a:pt x="16938" y="75663"/>
                      <a:pt x="0" y="58726"/>
                      <a:pt x="0" y="37832"/>
                    </a:cubicBezTo>
                    <a:lnTo>
                      <a:pt x="0" y="37832"/>
                    </a:lnTo>
                    <a:cubicBezTo>
                      <a:pt x="0" y="16938"/>
                      <a:pt x="16938" y="0"/>
                      <a:pt x="37832" y="0"/>
                    </a:cubicBezTo>
                    <a:close/>
                  </a:path>
                </a:pathLst>
              </a:custGeom>
              <a:solidFill>
                <a:srgbClr val="6BB3FF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28575"/>
                <a:ext cx="286410" cy="1042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40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 rot="-2700000">
              <a:off x="-78488" y="1166764"/>
              <a:ext cx="1402891" cy="359099"/>
              <a:chOff x="0" y="0"/>
              <a:chExt cx="295594" cy="7566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295594" cy="75663"/>
              </a:xfrm>
              <a:custGeom>
                <a:avLst/>
                <a:gdLst/>
                <a:ahLst/>
                <a:cxnLst/>
                <a:rect l="l" t="t" r="r" b="b"/>
                <a:pathLst>
                  <a:path w="295594" h="75663">
                    <a:moveTo>
                      <a:pt x="37832" y="0"/>
                    </a:moveTo>
                    <a:lnTo>
                      <a:pt x="257763" y="0"/>
                    </a:lnTo>
                    <a:cubicBezTo>
                      <a:pt x="267796" y="0"/>
                      <a:pt x="277419" y="3986"/>
                      <a:pt x="284514" y="11081"/>
                    </a:cubicBezTo>
                    <a:cubicBezTo>
                      <a:pt x="291609" y="18175"/>
                      <a:pt x="295594" y="27798"/>
                      <a:pt x="295594" y="37832"/>
                    </a:cubicBezTo>
                    <a:lnTo>
                      <a:pt x="295594" y="37832"/>
                    </a:lnTo>
                    <a:cubicBezTo>
                      <a:pt x="295594" y="58726"/>
                      <a:pt x="278657" y="75663"/>
                      <a:pt x="257763" y="75663"/>
                    </a:cubicBezTo>
                    <a:lnTo>
                      <a:pt x="37832" y="75663"/>
                    </a:lnTo>
                    <a:cubicBezTo>
                      <a:pt x="16938" y="75663"/>
                      <a:pt x="0" y="58726"/>
                      <a:pt x="0" y="37832"/>
                    </a:cubicBezTo>
                    <a:lnTo>
                      <a:pt x="0" y="37832"/>
                    </a:lnTo>
                    <a:cubicBezTo>
                      <a:pt x="0" y="16938"/>
                      <a:pt x="16938" y="0"/>
                      <a:pt x="37832" y="0"/>
                    </a:cubicBezTo>
                    <a:close/>
                  </a:path>
                </a:pathLst>
              </a:custGeom>
              <a:solidFill>
                <a:srgbClr val="6BB3FF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-28575"/>
                <a:ext cx="295594" cy="1042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40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3" name="Freeform 63"/>
          <p:cNvSpPr/>
          <p:nvPr/>
        </p:nvSpPr>
        <p:spPr>
          <a:xfrm>
            <a:off x="2338776" y="8283740"/>
            <a:ext cx="347060" cy="351454"/>
          </a:xfrm>
          <a:custGeom>
            <a:avLst/>
            <a:gdLst/>
            <a:ahLst/>
            <a:cxnLst/>
            <a:rect l="l" t="t" r="r" b="b"/>
            <a:pathLst>
              <a:path w="347060" h="351454">
                <a:moveTo>
                  <a:pt x="0" y="0"/>
                </a:moveTo>
                <a:lnTo>
                  <a:pt x="347061" y="0"/>
                </a:lnTo>
                <a:lnTo>
                  <a:pt x="347061" y="351454"/>
                </a:lnTo>
                <a:lnTo>
                  <a:pt x="0" y="3514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13002244" y="5264425"/>
            <a:ext cx="429596" cy="679226"/>
          </a:xfrm>
          <a:custGeom>
            <a:avLst/>
            <a:gdLst/>
            <a:ahLst/>
            <a:cxnLst/>
            <a:rect l="l" t="t" r="r" b="b"/>
            <a:pathLst>
              <a:path w="429596" h="679226">
                <a:moveTo>
                  <a:pt x="0" y="0"/>
                </a:moveTo>
                <a:lnTo>
                  <a:pt x="429597" y="0"/>
                </a:lnTo>
                <a:lnTo>
                  <a:pt x="429597" y="679226"/>
                </a:lnTo>
                <a:lnTo>
                  <a:pt x="0" y="6792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8570565" y="5283692"/>
            <a:ext cx="373352" cy="494124"/>
          </a:xfrm>
          <a:custGeom>
            <a:avLst/>
            <a:gdLst/>
            <a:ahLst/>
            <a:cxnLst/>
            <a:rect l="l" t="t" r="r" b="b"/>
            <a:pathLst>
              <a:path w="373352" h="494124">
                <a:moveTo>
                  <a:pt x="0" y="0"/>
                </a:moveTo>
                <a:lnTo>
                  <a:pt x="373353" y="0"/>
                </a:lnTo>
                <a:lnTo>
                  <a:pt x="373353" y="494124"/>
                </a:lnTo>
                <a:lnTo>
                  <a:pt x="0" y="4941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15254360" y="8271485"/>
            <a:ext cx="438150" cy="470174"/>
          </a:xfrm>
          <a:custGeom>
            <a:avLst/>
            <a:gdLst/>
            <a:ahLst/>
            <a:cxnLst/>
            <a:rect l="l" t="t" r="r" b="b"/>
            <a:pathLst>
              <a:path w="438150" h="470174">
                <a:moveTo>
                  <a:pt x="0" y="0"/>
                </a:moveTo>
                <a:lnTo>
                  <a:pt x="438150" y="0"/>
                </a:lnTo>
                <a:lnTo>
                  <a:pt x="438150" y="470174"/>
                </a:lnTo>
                <a:lnTo>
                  <a:pt x="0" y="4701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67" name="Freeform 67"/>
          <p:cNvSpPr/>
          <p:nvPr/>
        </p:nvSpPr>
        <p:spPr>
          <a:xfrm>
            <a:off x="6237987" y="8196444"/>
            <a:ext cx="440433" cy="512650"/>
          </a:xfrm>
          <a:custGeom>
            <a:avLst/>
            <a:gdLst/>
            <a:ahLst/>
            <a:cxnLst/>
            <a:rect l="l" t="t" r="r" b="b"/>
            <a:pathLst>
              <a:path w="440433" h="512650">
                <a:moveTo>
                  <a:pt x="0" y="0"/>
                </a:moveTo>
                <a:lnTo>
                  <a:pt x="440433" y="0"/>
                </a:lnTo>
                <a:lnTo>
                  <a:pt x="440433" y="512650"/>
                </a:lnTo>
                <a:lnTo>
                  <a:pt x="0" y="512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53602" y="628650"/>
            <a:ext cx="12033998" cy="828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6"/>
              </a:lnSpc>
            </a:pPr>
            <a:r>
              <a:rPr lang="en-US" sz="5600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Cuộc thi PMNM – OLP 2026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53602" y="1636828"/>
            <a:ext cx="12033998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Dành cho sinh viên chuyên và không chuyên CNTT – Phát triển dự án nguồn mở đúng chuẩn</a:t>
            </a:r>
          </a:p>
        </p:txBody>
      </p:sp>
      <p:sp>
        <p:nvSpPr>
          <p:cNvPr id="4" name="Freeform 4"/>
          <p:cNvSpPr/>
          <p:nvPr/>
        </p:nvSpPr>
        <p:spPr>
          <a:xfrm rot="-600000">
            <a:off x="1306616" y="4249576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0" y="0"/>
                </a:moveTo>
                <a:lnTo>
                  <a:pt x="3494314" y="0"/>
                </a:lnTo>
                <a:lnTo>
                  <a:pt x="3494314" y="4285311"/>
                </a:lnTo>
                <a:lnTo>
                  <a:pt x="0" y="4285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 rot="-600000">
            <a:off x="1784618" y="5536444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Thi theo đội</a:t>
            </a:r>
          </a:p>
        </p:txBody>
      </p:sp>
      <p:sp>
        <p:nvSpPr>
          <p:cNvPr id="6" name="TextBox 6"/>
          <p:cNvSpPr txBox="1"/>
          <p:nvPr/>
        </p:nvSpPr>
        <p:spPr>
          <a:xfrm rot="-600000">
            <a:off x="1984603" y="6266167"/>
            <a:ext cx="2501696" cy="110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Thi theo đội, có giảng viên hướng dẫn. Sinh viên chuyên và không chuyên CNTT đều được tham gia.</a:t>
            </a:r>
          </a:p>
        </p:txBody>
      </p:sp>
      <p:sp>
        <p:nvSpPr>
          <p:cNvPr id="7" name="Freeform 7"/>
          <p:cNvSpPr/>
          <p:nvPr/>
        </p:nvSpPr>
        <p:spPr>
          <a:xfrm rot="-299999">
            <a:off x="5336076" y="3505987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0" y="0"/>
                </a:moveTo>
                <a:lnTo>
                  <a:pt x="3494315" y="0"/>
                </a:lnTo>
                <a:lnTo>
                  <a:pt x="3494315" y="4285311"/>
                </a:lnTo>
                <a:lnTo>
                  <a:pt x="0" y="4285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 rot="-299999">
            <a:off x="5875785" y="4793950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Phần mềm nguồn mở</a:t>
            </a:r>
          </a:p>
        </p:txBody>
      </p:sp>
      <p:sp>
        <p:nvSpPr>
          <p:cNvPr id="9" name="TextBox 9"/>
          <p:cNvSpPr txBox="1"/>
          <p:nvPr/>
        </p:nvSpPr>
        <p:spPr>
          <a:xfrm rot="-299999">
            <a:off x="5964122" y="5399200"/>
            <a:ext cx="2501696" cy="110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Phần mềm phải là nguồn mở, mã nguồn được công khai trên Internet và có thể truy cập tự do.</a:t>
            </a:r>
          </a:p>
        </p:txBody>
      </p:sp>
      <p:sp>
        <p:nvSpPr>
          <p:cNvPr id="10" name="Freeform 10"/>
          <p:cNvSpPr/>
          <p:nvPr/>
        </p:nvSpPr>
        <p:spPr>
          <a:xfrm rot="-299999">
            <a:off x="5664719" y="3926838"/>
            <a:ext cx="510915" cy="412820"/>
          </a:xfrm>
          <a:custGeom>
            <a:avLst/>
            <a:gdLst/>
            <a:ahLst/>
            <a:cxnLst/>
            <a:rect l="l" t="t" r="r" b="b"/>
            <a:pathLst>
              <a:path w="510915" h="412820">
                <a:moveTo>
                  <a:pt x="0" y="0"/>
                </a:moveTo>
                <a:lnTo>
                  <a:pt x="510915" y="0"/>
                </a:lnTo>
                <a:lnTo>
                  <a:pt x="510915" y="412820"/>
                </a:lnTo>
                <a:lnTo>
                  <a:pt x="0" y="412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299999" flipH="1">
            <a:off x="9457609" y="3505987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3494315" y="0"/>
                </a:moveTo>
                <a:lnTo>
                  <a:pt x="0" y="0"/>
                </a:lnTo>
                <a:lnTo>
                  <a:pt x="0" y="4285311"/>
                </a:lnTo>
                <a:lnTo>
                  <a:pt x="3494315" y="4285311"/>
                </a:lnTo>
                <a:lnTo>
                  <a:pt x="349431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 rot="299999">
            <a:off x="9929780" y="4795635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Giấy phép OSI</a:t>
            </a:r>
          </a:p>
        </p:txBody>
      </p:sp>
      <p:sp>
        <p:nvSpPr>
          <p:cNvPr id="13" name="TextBox 13"/>
          <p:cNvSpPr txBox="1"/>
          <p:nvPr/>
        </p:nvSpPr>
        <p:spPr>
          <a:xfrm rot="299999">
            <a:off x="9841442" y="5400885"/>
            <a:ext cx="2501696" cy="110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Sử dụng giấy phép được OSI công nhận (OSI-approved) như MIT, Apache-2.0, GPL, BSD...</a:t>
            </a:r>
          </a:p>
        </p:txBody>
      </p:sp>
      <p:sp>
        <p:nvSpPr>
          <p:cNvPr id="14" name="Freeform 14"/>
          <p:cNvSpPr/>
          <p:nvPr/>
        </p:nvSpPr>
        <p:spPr>
          <a:xfrm rot="299999">
            <a:off x="12168366" y="3862638"/>
            <a:ext cx="422262" cy="563725"/>
          </a:xfrm>
          <a:custGeom>
            <a:avLst/>
            <a:gdLst/>
            <a:ahLst/>
            <a:cxnLst/>
            <a:rect l="l" t="t" r="r" b="b"/>
            <a:pathLst>
              <a:path w="422262" h="563725">
                <a:moveTo>
                  <a:pt x="0" y="0"/>
                </a:moveTo>
                <a:lnTo>
                  <a:pt x="422262" y="0"/>
                </a:lnTo>
                <a:lnTo>
                  <a:pt x="422262" y="563725"/>
                </a:lnTo>
                <a:lnTo>
                  <a:pt x="0" y="5637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600000" flipH="1">
            <a:off x="13483892" y="4249576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3494314" y="0"/>
                </a:moveTo>
                <a:lnTo>
                  <a:pt x="0" y="0"/>
                </a:lnTo>
                <a:lnTo>
                  <a:pt x="0" y="4285311"/>
                </a:lnTo>
                <a:lnTo>
                  <a:pt x="3494314" y="4285311"/>
                </a:lnTo>
                <a:lnTo>
                  <a:pt x="349431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 rot="600000">
            <a:off x="14026351" y="5541353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Release &amp; Tài liệu</a:t>
            </a:r>
          </a:p>
        </p:txBody>
      </p:sp>
      <p:sp>
        <p:nvSpPr>
          <p:cNvPr id="17" name="TextBox 17"/>
          <p:cNvSpPr txBox="1"/>
          <p:nvPr/>
        </p:nvSpPr>
        <p:spPr>
          <a:xfrm rot="600000">
            <a:off x="13874332" y="6143780"/>
            <a:ext cx="2501696" cy="8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Có Release, tài liệu đầy đủ và khả năng build lại từ mã nguồn công khai.</a:t>
            </a:r>
          </a:p>
        </p:txBody>
      </p:sp>
      <p:sp>
        <p:nvSpPr>
          <p:cNvPr id="18" name="Freeform 18"/>
          <p:cNvSpPr/>
          <p:nvPr/>
        </p:nvSpPr>
        <p:spPr>
          <a:xfrm rot="600000">
            <a:off x="16308017" y="4661783"/>
            <a:ext cx="409778" cy="646130"/>
          </a:xfrm>
          <a:custGeom>
            <a:avLst/>
            <a:gdLst/>
            <a:ahLst/>
            <a:cxnLst/>
            <a:rect l="l" t="t" r="r" b="b"/>
            <a:pathLst>
              <a:path w="409778" h="646130">
                <a:moveTo>
                  <a:pt x="0" y="0"/>
                </a:moveTo>
                <a:lnTo>
                  <a:pt x="409778" y="0"/>
                </a:lnTo>
                <a:lnTo>
                  <a:pt x="409778" y="646130"/>
                </a:lnTo>
                <a:lnTo>
                  <a:pt x="0" y="6461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600000">
            <a:off x="1506433" y="4781873"/>
            <a:ext cx="523860" cy="366933"/>
          </a:xfrm>
          <a:custGeom>
            <a:avLst/>
            <a:gdLst/>
            <a:ahLst/>
            <a:cxnLst/>
            <a:rect l="l" t="t" r="r" b="b"/>
            <a:pathLst>
              <a:path w="523860" h="366933">
                <a:moveTo>
                  <a:pt x="0" y="0"/>
                </a:moveTo>
                <a:lnTo>
                  <a:pt x="523861" y="0"/>
                </a:lnTo>
                <a:lnTo>
                  <a:pt x="523861" y="366933"/>
                </a:lnTo>
                <a:lnTo>
                  <a:pt x="0" y="36693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70352" y="609600"/>
            <a:ext cx="11925062" cy="9114609"/>
            <a:chOff x="0" y="0"/>
            <a:chExt cx="995524" cy="7609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5524" cy="760903"/>
            </a:xfrm>
            <a:custGeom>
              <a:avLst/>
              <a:gdLst/>
              <a:ahLst/>
              <a:cxnLst/>
              <a:rect l="l" t="t" r="r" b="b"/>
              <a:pathLst>
                <a:path w="995524" h="760903">
                  <a:moveTo>
                    <a:pt x="995524" y="380451"/>
                  </a:moveTo>
                  <a:lnTo>
                    <a:pt x="589124" y="0"/>
                  </a:lnTo>
                  <a:lnTo>
                    <a:pt x="589124" y="203200"/>
                  </a:lnTo>
                  <a:lnTo>
                    <a:pt x="0" y="203200"/>
                  </a:lnTo>
                  <a:lnTo>
                    <a:pt x="0" y="557703"/>
                  </a:lnTo>
                  <a:lnTo>
                    <a:pt x="589124" y="557703"/>
                  </a:lnTo>
                  <a:lnTo>
                    <a:pt x="589124" y="760903"/>
                  </a:lnTo>
                  <a:lnTo>
                    <a:pt x="995524" y="380451"/>
                  </a:lnTo>
                  <a:close/>
                </a:path>
              </a:pathLst>
            </a:custGeom>
            <a:solidFill>
              <a:srgbClr val="CADBE8">
                <a:alpha val="2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74625"/>
              <a:ext cx="893924" cy="383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2270663" y="609600"/>
            <a:ext cx="7052746" cy="1808068"/>
          </a:xfrm>
          <a:custGeom>
            <a:avLst/>
            <a:gdLst/>
            <a:ahLst/>
            <a:cxnLst/>
            <a:rect l="l" t="t" r="r" b="b"/>
            <a:pathLst>
              <a:path w="7052746" h="1808068">
                <a:moveTo>
                  <a:pt x="0" y="0"/>
                </a:moveTo>
                <a:lnTo>
                  <a:pt x="7052746" y="0"/>
                </a:lnTo>
                <a:lnTo>
                  <a:pt x="7052746" y="1808068"/>
                </a:lnTo>
                <a:lnTo>
                  <a:pt x="0" y="1808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3710084" y="830783"/>
            <a:ext cx="3989834" cy="1022848"/>
          </a:xfrm>
          <a:custGeom>
            <a:avLst/>
            <a:gdLst/>
            <a:ahLst/>
            <a:cxnLst/>
            <a:rect l="l" t="t" r="r" b="b"/>
            <a:pathLst>
              <a:path w="3989834" h="1022848">
                <a:moveTo>
                  <a:pt x="0" y="0"/>
                </a:moveTo>
                <a:lnTo>
                  <a:pt x="3989834" y="0"/>
                </a:lnTo>
                <a:lnTo>
                  <a:pt x="3989834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70663" y="8280050"/>
            <a:ext cx="7052746" cy="1808068"/>
          </a:xfrm>
          <a:custGeom>
            <a:avLst/>
            <a:gdLst/>
            <a:ahLst/>
            <a:cxnLst/>
            <a:rect l="l" t="t" r="r" b="b"/>
            <a:pathLst>
              <a:path w="7052746" h="1808068">
                <a:moveTo>
                  <a:pt x="0" y="0"/>
                </a:moveTo>
                <a:lnTo>
                  <a:pt x="7052746" y="0"/>
                </a:lnTo>
                <a:lnTo>
                  <a:pt x="7052746" y="1808068"/>
                </a:lnTo>
                <a:lnTo>
                  <a:pt x="0" y="1808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3710084" y="8501233"/>
            <a:ext cx="3989834" cy="1022848"/>
          </a:xfrm>
          <a:custGeom>
            <a:avLst/>
            <a:gdLst/>
            <a:ahLst/>
            <a:cxnLst/>
            <a:rect l="l" t="t" r="r" b="b"/>
            <a:pathLst>
              <a:path w="3989834" h="1022848">
                <a:moveTo>
                  <a:pt x="0" y="0"/>
                </a:moveTo>
                <a:lnTo>
                  <a:pt x="3989834" y="0"/>
                </a:lnTo>
                <a:lnTo>
                  <a:pt x="3989834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36257" y="2524247"/>
            <a:ext cx="7052746" cy="1808068"/>
          </a:xfrm>
          <a:custGeom>
            <a:avLst/>
            <a:gdLst/>
            <a:ahLst/>
            <a:cxnLst/>
            <a:rect l="l" t="t" r="r" b="b"/>
            <a:pathLst>
              <a:path w="7052746" h="1808068">
                <a:moveTo>
                  <a:pt x="0" y="0"/>
                </a:moveTo>
                <a:lnTo>
                  <a:pt x="7052746" y="0"/>
                </a:lnTo>
                <a:lnTo>
                  <a:pt x="7052746" y="1808067"/>
                </a:lnTo>
                <a:lnTo>
                  <a:pt x="0" y="1808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6275678" y="2745430"/>
            <a:ext cx="3989834" cy="1022848"/>
          </a:xfrm>
          <a:custGeom>
            <a:avLst/>
            <a:gdLst/>
            <a:ahLst/>
            <a:cxnLst/>
            <a:rect l="l" t="t" r="r" b="b"/>
            <a:pathLst>
              <a:path w="3989834" h="1022848">
                <a:moveTo>
                  <a:pt x="0" y="0"/>
                </a:moveTo>
                <a:lnTo>
                  <a:pt x="3989833" y="0"/>
                </a:lnTo>
                <a:lnTo>
                  <a:pt x="3989833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836257" y="6356674"/>
            <a:ext cx="7052746" cy="1808068"/>
          </a:xfrm>
          <a:custGeom>
            <a:avLst/>
            <a:gdLst/>
            <a:ahLst/>
            <a:cxnLst/>
            <a:rect l="l" t="t" r="r" b="b"/>
            <a:pathLst>
              <a:path w="7052746" h="1808068">
                <a:moveTo>
                  <a:pt x="0" y="0"/>
                </a:moveTo>
                <a:lnTo>
                  <a:pt x="7052746" y="0"/>
                </a:lnTo>
                <a:lnTo>
                  <a:pt x="7052746" y="1808067"/>
                </a:lnTo>
                <a:lnTo>
                  <a:pt x="0" y="1808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6275678" y="6577857"/>
            <a:ext cx="3989834" cy="1022848"/>
          </a:xfrm>
          <a:custGeom>
            <a:avLst/>
            <a:gdLst/>
            <a:ahLst/>
            <a:cxnLst/>
            <a:rect l="l" t="t" r="r" b="b"/>
            <a:pathLst>
              <a:path w="3989834" h="1022848">
                <a:moveTo>
                  <a:pt x="0" y="0"/>
                </a:moveTo>
                <a:lnTo>
                  <a:pt x="3989833" y="0"/>
                </a:lnTo>
                <a:lnTo>
                  <a:pt x="3989833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33151" y="4438893"/>
            <a:ext cx="7052746" cy="1808068"/>
          </a:xfrm>
          <a:custGeom>
            <a:avLst/>
            <a:gdLst/>
            <a:ahLst/>
            <a:cxnLst/>
            <a:rect l="l" t="t" r="r" b="b"/>
            <a:pathLst>
              <a:path w="7052746" h="1808068">
                <a:moveTo>
                  <a:pt x="0" y="0"/>
                </a:moveTo>
                <a:lnTo>
                  <a:pt x="7052746" y="0"/>
                </a:lnTo>
                <a:lnTo>
                  <a:pt x="7052746" y="1808068"/>
                </a:lnTo>
                <a:lnTo>
                  <a:pt x="0" y="1808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8472572" y="4660076"/>
            <a:ext cx="3989834" cy="1022848"/>
          </a:xfrm>
          <a:custGeom>
            <a:avLst/>
            <a:gdLst/>
            <a:ahLst/>
            <a:cxnLst/>
            <a:rect l="l" t="t" r="r" b="b"/>
            <a:pathLst>
              <a:path w="3989834" h="1022848">
                <a:moveTo>
                  <a:pt x="0" y="0"/>
                </a:moveTo>
                <a:lnTo>
                  <a:pt x="3989833" y="0"/>
                </a:lnTo>
                <a:lnTo>
                  <a:pt x="3989833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781550" y="1173814"/>
            <a:ext cx="2744635" cy="29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5"/>
              </a:lnSpc>
            </a:pPr>
            <a:r>
              <a:rPr lang="en-US" sz="1789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Quyền Sử Dụng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68371" y="3093841"/>
            <a:ext cx="2744635" cy="29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5"/>
              </a:lnSpc>
            </a:pPr>
            <a:r>
              <a:rPr lang="en-US" sz="1789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Mã Nguồn Công Khai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73570" y="1105228"/>
            <a:ext cx="4971908" cy="44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69"/>
              </a:lnSpc>
            </a:pPr>
            <a:r>
              <a:rPr lang="en-US" sz="1263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Cho phép sử dụng, sửa đổi và phân phối lại phần mềm tự do theo điều khoản giấy phép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60391" y="3025255"/>
            <a:ext cx="4971908" cy="44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69"/>
              </a:lnSpc>
            </a:pPr>
            <a:r>
              <a:rPr lang="en-US" sz="1263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Mã nguồn phải được công khai và có thể truy cập từ Internet để cộng đồng kiểm tra và đóng góp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74511" y="5013868"/>
            <a:ext cx="2744635" cy="29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5"/>
              </a:lnSpc>
            </a:pPr>
            <a:r>
              <a:rPr lang="en-US" sz="1789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Giấy Phép OSI-Approved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68371" y="6920877"/>
            <a:ext cx="2744635" cy="29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5"/>
              </a:lnSpc>
            </a:pPr>
            <a:r>
              <a:rPr lang="en-US" sz="1789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Giấy Phép Phổ Biến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81550" y="8849644"/>
            <a:ext cx="2744635" cy="29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5"/>
              </a:lnSpc>
            </a:pPr>
            <a:r>
              <a:rPr lang="en-US" sz="1789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Thông Điệp Chính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66531" y="4945282"/>
            <a:ext cx="4811869" cy="44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69"/>
              </a:lnSpc>
            </a:pPr>
            <a:r>
              <a:rPr lang="en-US" sz="1263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Giấy phép phải rõ ràng và thuộc danh sách được OSI (Open Source Initiative) công nhận chính thức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60391" y="6852292"/>
            <a:ext cx="4971908" cy="44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69"/>
              </a:lnSpc>
            </a:pPr>
            <a:r>
              <a:rPr lang="en-US" sz="1263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Các giấy phép thông dụng: MIT, Apache-2.0, GPL, LGPL, BSD, MPL 2.0 – mỗi loại có điều khoản riêng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73570" y="8781059"/>
            <a:ext cx="4971908" cy="44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69"/>
              </a:lnSpc>
            </a:pPr>
            <a:r>
              <a:rPr lang="en-US" sz="1263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Nguồn mở không chỉ là công khai mã nguồn, mà còn phải có giấy phép để cộng đồng sử dụng, sửa đổi và phân phối đúng quy định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9600" y="3739705"/>
            <a:ext cx="5791200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67"/>
              </a:lnSpc>
            </a:pPr>
            <a:r>
              <a:rPr lang="en-US" sz="4800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Nguồn Mở Nghĩa Là Gì?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9074" y="5954840"/>
            <a:ext cx="5436926" cy="49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0"/>
              </a:lnSpc>
            </a:pPr>
            <a:r>
              <a:rPr lang="en-US" sz="142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Nguồn mở không chỉ là có mã nguồn – cần giấy phép phù hợp để cộng đồng sử dụng đúng quy định</a:t>
            </a:r>
          </a:p>
        </p:txBody>
      </p:sp>
      <p:sp>
        <p:nvSpPr>
          <p:cNvPr id="27" name="Freeform 27"/>
          <p:cNvSpPr/>
          <p:nvPr/>
        </p:nvSpPr>
        <p:spPr>
          <a:xfrm>
            <a:off x="4009710" y="950391"/>
            <a:ext cx="438623" cy="609542"/>
          </a:xfrm>
          <a:custGeom>
            <a:avLst/>
            <a:gdLst/>
            <a:ahLst/>
            <a:cxnLst/>
            <a:rect l="l" t="t" r="r" b="b"/>
            <a:pathLst>
              <a:path w="438623" h="609542">
                <a:moveTo>
                  <a:pt x="0" y="0"/>
                </a:moveTo>
                <a:lnTo>
                  <a:pt x="438623" y="0"/>
                </a:lnTo>
                <a:lnTo>
                  <a:pt x="438623" y="609542"/>
                </a:lnTo>
                <a:lnTo>
                  <a:pt x="0" y="60954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4031565" y="8780623"/>
            <a:ext cx="391446" cy="482358"/>
          </a:xfrm>
          <a:custGeom>
            <a:avLst/>
            <a:gdLst/>
            <a:ahLst/>
            <a:cxnLst/>
            <a:rect l="l" t="t" r="r" b="b"/>
            <a:pathLst>
              <a:path w="391446" h="482358">
                <a:moveTo>
                  <a:pt x="0" y="0"/>
                </a:moveTo>
                <a:lnTo>
                  <a:pt x="391446" y="0"/>
                </a:lnTo>
                <a:lnTo>
                  <a:pt x="391446" y="482358"/>
                </a:lnTo>
                <a:lnTo>
                  <a:pt x="0" y="482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470068" y="3014053"/>
            <a:ext cx="674840" cy="439009"/>
          </a:xfrm>
          <a:custGeom>
            <a:avLst/>
            <a:gdLst/>
            <a:ahLst/>
            <a:cxnLst/>
            <a:rect l="l" t="t" r="r" b="b"/>
            <a:pathLst>
              <a:path w="674840" h="439009">
                <a:moveTo>
                  <a:pt x="0" y="0"/>
                </a:moveTo>
                <a:lnTo>
                  <a:pt x="674840" y="0"/>
                </a:lnTo>
                <a:lnTo>
                  <a:pt x="674840" y="439009"/>
                </a:lnTo>
                <a:lnTo>
                  <a:pt x="0" y="43900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801965" y="4921883"/>
            <a:ext cx="410586" cy="500602"/>
          </a:xfrm>
          <a:custGeom>
            <a:avLst/>
            <a:gdLst/>
            <a:ahLst/>
            <a:cxnLst/>
            <a:rect l="l" t="t" r="r" b="b"/>
            <a:pathLst>
              <a:path w="410586" h="500602">
                <a:moveTo>
                  <a:pt x="0" y="0"/>
                </a:moveTo>
                <a:lnTo>
                  <a:pt x="410586" y="0"/>
                </a:lnTo>
                <a:lnTo>
                  <a:pt x="410586" y="500603"/>
                </a:lnTo>
                <a:lnTo>
                  <a:pt x="0" y="50060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594281" y="6810350"/>
            <a:ext cx="422239" cy="551073"/>
          </a:xfrm>
          <a:custGeom>
            <a:avLst/>
            <a:gdLst/>
            <a:ahLst/>
            <a:cxnLst/>
            <a:rect l="l" t="t" r="r" b="b"/>
            <a:pathLst>
              <a:path w="422239" h="551073">
                <a:moveTo>
                  <a:pt x="0" y="0"/>
                </a:moveTo>
                <a:lnTo>
                  <a:pt x="422238" y="0"/>
                </a:lnTo>
                <a:lnTo>
                  <a:pt x="422238" y="551073"/>
                </a:lnTo>
                <a:lnTo>
                  <a:pt x="0" y="55107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00400" y="3406500"/>
            <a:ext cx="11887200" cy="5185791"/>
          </a:xfrm>
          <a:custGeom>
            <a:avLst/>
            <a:gdLst/>
            <a:ahLst/>
            <a:cxnLst/>
            <a:rect l="l" t="t" r="r" b="b"/>
            <a:pathLst>
              <a:path w="11887200" h="5185791">
                <a:moveTo>
                  <a:pt x="0" y="0"/>
                </a:moveTo>
                <a:lnTo>
                  <a:pt x="11887200" y="0"/>
                </a:lnTo>
                <a:lnTo>
                  <a:pt x="11887200" y="5185791"/>
                </a:lnTo>
                <a:lnTo>
                  <a:pt x="0" y="51857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84983" y="4170706"/>
            <a:ext cx="4151058" cy="4143511"/>
          </a:xfrm>
          <a:custGeom>
            <a:avLst/>
            <a:gdLst/>
            <a:ahLst/>
            <a:cxnLst/>
            <a:rect l="l" t="t" r="r" b="b"/>
            <a:pathLst>
              <a:path w="4151058" h="4143511">
                <a:moveTo>
                  <a:pt x="0" y="0"/>
                </a:moveTo>
                <a:lnTo>
                  <a:pt x="4151058" y="0"/>
                </a:lnTo>
                <a:lnTo>
                  <a:pt x="4151058" y="4143511"/>
                </a:lnTo>
                <a:lnTo>
                  <a:pt x="0" y="4143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435871" y="4246764"/>
            <a:ext cx="3449281" cy="344928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86810" y="3898646"/>
            <a:ext cx="1465888" cy="31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Workflow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24311" y="3898646"/>
            <a:ext cx="1613023" cy="31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86810" y="7540075"/>
            <a:ext cx="1465888" cy="68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</a:pPr>
            <a:r>
              <a:rPr lang="en-US" sz="195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Quản lý Tài nguyên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71447" y="7540075"/>
            <a:ext cx="1465888" cy="68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29"/>
              </a:lnSpc>
            </a:pPr>
            <a:r>
              <a:rPr lang="en-US" sz="195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Tri thức Nội bộ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5208" y="5805086"/>
            <a:ext cx="1465888" cy="31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</a:pPr>
            <a:r>
              <a:rPr lang="en-US" sz="195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Self-service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33651" y="5633636"/>
            <a:ext cx="1570985" cy="68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29"/>
              </a:lnSpc>
            </a:pPr>
            <a:r>
              <a:rPr lang="en-US" sz="195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Thông báo &amp; Báo cáo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898" y="5576789"/>
            <a:ext cx="2333625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Nhân viên tự phục vụ nhu cầu: yêu cầu, tra cứu, theo dõi.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49525" y="5576789"/>
            <a:ext cx="2333625" cy="54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Gửi thông báo tự động và tổng hợp báo cáo định kỳ.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6833" y="7483229"/>
            <a:ext cx="2333625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Quản lý tài sản, thiết bị và nguồn lực số của doanh nghiệp.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66422" y="7483229"/>
            <a:ext cx="2333625" cy="54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Lưu trữ và chia sẻ tri thức, tài liệu nội bộ toàn tổ chức.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6833" y="3670350"/>
            <a:ext cx="2333625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Tự động hóa quy trình phê duyệt và điều phối công việc nội bộ.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66422" y="3670350"/>
            <a:ext cx="2333625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Trực quan hóa dữ liệu vận hành, KPI và tiến độ theo thời gian thực.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53602" y="628650"/>
            <a:ext cx="12033998" cy="828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1"/>
              </a:lnSpc>
            </a:pPr>
            <a:r>
              <a:rPr lang="en-US" sz="5596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DX-OS là gì?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53602" y="1636828"/>
            <a:ext cx="12033998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Nền tảng điều hành số cho doanh nghiệp – không phải kernel OS, mà là hệ thống hỗ trợ vận hành toàn diện.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999417" y="4808750"/>
            <a:ext cx="2325310" cy="232531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95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8773044" y="5602859"/>
            <a:ext cx="806543" cy="804442"/>
          </a:xfrm>
          <a:custGeom>
            <a:avLst/>
            <a:gdLst/>
            <a:ahLst/>
            <a:cxnLst/>
            <a:rect l="l" t="t" r="r" b="b"/>
            <a:pathLst>
              <a:path w="806543" h="804442">
                <a:moveTo>
                  <a:pt x="0" y="0"/>
                </a:moveTo>
                <a:lnTo>
                  <a:pt x="806543" y="0"/>
                </a:lnTo>
                <a:lnTo>
                  <a:pt x="806543" y="804442"/>
                </a:lnTo>
                <a:lnTo>
                  <a:pt x="0" y="804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5893641" y="3830388"/>
            <a:ext cx="623655" cy="527178"/>
          </a:xfrm>
          <a:custGeom>
            <a:avLst/>
            <a:gdLst/>
            <a:ahLst/>
            <a:cxnLst/>
            <a:rect l="l" t="t" r="r" b="b"/>
            <a:pathLst>
              <a:path w="623655" h="527178">
                <a:moveTo>
                  <a:pt x="0" y="0"/>
                </a:moveTo>
                <a:lnTo>
                  <a:pt x="623655" y="0"/>
                </a:lnTo>
                <a:lnTo>
                  <a:pt x="623655" y="527179"/>
                </a:lnTo>
                <a:lnTo>
                  <a:pt x="0" y="5271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915059" y="4010552"/>
            <a:ext cx="401221" cy="337454"/>
          </a:xfrm>
          <a:custGeom>
            <a:avLst/>
            <a:gdLst/>
            <a:ahLst/>
            <a:cxnLst/>
            <a:rect l="l" t="t" r="r" b="b"/>
            <a:pathLst>
              <a:path w="401221" h="337454">
                <a:moveTo>
                  <a:pt x="0" y="0"/>
                </a:moveTo>
                <a:lnTo>
                  <a:pt x="401221" y="0"/>
                </a:lnTo>
                <a:lnTo>
                  <a:pt x="401221" y="337454"/>
                </a:lnTo>
                <a:lnTo>
                  <a:pt x="0" y="3374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811607" y="7611815"/>
            <a:ext cx="729602" cy="564788"/>
          </a:xfrm>
          <a:custGeom>
            <a:avLst/>
            <a:gdLst/>
            <a:ahLst/>
            <a:cxnLst/>
            <a:rect l="l" t="t" r="r" b="b"/>
            <a:pathLst>
              <a:path w="729602" h="564788">
                <a:moveTo>
                  <a:pt x="0" y="0"/>
                </a:moveTo>
                <a:lnTo>
                  <a:pt x="729602" y="0"/>
                </a:lnTo>
                <a:lnTo>
                  <a:pt x="729602" y="564788"/>
                </a:lnTo>
                <a:lnTo>
                  <a:pt x="0" y="5647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366997" y="5526263"/>
            <a:ext cx="576710" cy="691297"/>
          </a:xfrm>
          <a:custGeom>
            <a:avLst/>
            <a:gdLst/>
            <a:ahLst/>
            <a:cxnLst/>
            <a:rect l="l" t="t" r="r" b="b"/>
            <a:pathLst>
              <a:path w="576710" h="691297">
                <a:moveTo>
                  <a:pt x="0" y="0"/>
                </a:moveTo>
                <a:lnTo>
                  <a:pt x="576710" y="0"/>
                </a:lnTo>
                <a:lnTo>
                  <a:pt x="576710" y="691296"/>
                </a:lnTo>
                <a:lnTo>
                  <a:pt x="0" y="6912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880278" y="7683009"/>
            <a:ext cx="621440" cy="426005"/>
          </a:xfrm>
          <a:custGeom>
            <a:avLst/>
            <a:gdLst/>
            <a:ahLst/>
            <a:cxnLst/>
            <a:rect l="l" t="t" r="r" b="b"/>
            <a:pathLst>
              <a:path w="621440" h="426005">
                <a:moveTo>
                  <a:pt x="0" y="0"/>
                </a:moveTo>
                <a:lnTo>
                  <a:pt x="621441" y="0"/>
                </a:lnTo>
                <a:lnTo>
                  <a:pt x="621441" y="426005"/>
                </a:lnTo>
                <a:lnTo>
                  <a:pt x="0" y="426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237953" y="5640066"/>
            <a:ext cx="573635" cy="696445"/>
          </a:xfrm>
          <a:custGeom>
            <a:avLst/>
            <a:gdLst/>
            <a:ahLst/>
            <a:cxnLst/>
            <a:rect l="l" t="t" r="r" b="b"/>
            <a:pathLst>
              <a:path w="573635" h="696445">
                <a:moveTo>
                  <a:pt x="0" y="0"/>
                </a:moveTo>
                <a:lnTo>
                  <a:pt x="573634" y="0"/>
                </a:lnTo>
                <a:lnTo>
                  <a:pt x="573634" y="696445"/>
                </a:lnTo>
                <a:lnTo>
                  <a:pt x="0" y="69644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4041915" y="-3787681"/>
            <a:ext cx="5976931" cy="12841560"/>
          </a:xfrm>
          <a:custGeom>
            <a:avLst/>
            <a:gdLst/>
            <a:ahLst/>
            <a:cxnLst/>
            <a:rect l="l" t="t" r="r" b="b"/>
            <a:pathLst>
              <a:path w="5976931" h="12841560">
                <a:moveTo>
                  <a:pt x="0" y="12841560"/>
                </a:moveTo>
                <a:lnTo>
                  <a:pt x="5976931" y="12841560"/>
                </a:lnTo>
                <a:lnTo>
                  <a:pt x="5976931" y="0"/>
                </a:lnTo>
                <a:lnTo>
                  <a:pt x="0" y="0"/>
                </a:lnTo>
                <a:lnTo>
                  <a:pt x="0" y="128415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277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9692" y="6376897"/>
            <a:ext cx="2857500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Repo Công Khai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9692" y="6865393"/>
            <a:ext cx="2857500" cy="54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Repo công khai, truy cập được từ Internet (GitHub / GitLab)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04669" y="5424397"/>
            <a:ext cx="2857500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Giấy Phép OSI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04669" y="5912893"/>
            <a:ext cx="2857500" cy="54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Có giấy phép OSI-approved (MIT, Apache-2.0, GPL...)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89646" y="4471897"/>
            <a:ext cx="2857500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Có Release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9646" y="4960393"/>
            <a:ext cx="2857500" cy="54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Có ít nhất 1 release chính thức, kèm tài liệu mô tả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74623" y="3519397"/>
            <a:ext cx="2857500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Build Từ Nguồn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4623" y="4007893"/>
            <a:ext cx="2857500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Build được từ mã nguồn, có README, changelog và issue tracker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0" y="6459310"/>
            <a:ext cx="548640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32"/>
              </a:lnSpc>
            </a:pPr>
            <a:r>
              <a:rPr lang="en-US" sz="5200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Tiêu Chí Chấm PoF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0" y="8866976"/>
            <a:ext cx="5067300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Proof of Feasibility – OLP 2026</a:t>
            </a:r>
          </a:p>
        </p:txBody>
      </p:sp>
      <p:sp>
        <p:nvSpPr>
          <p:cNvPr id="13" name="Freeform 13"/>
          <p:cNvSpPr/>
          <p:nvPr/>
        </p:nvSpPr>
        <p:spPr>
          <a:xfrm>
            <a:off x="3136479" y="3842633"/>
            <a:ext cx="914070" cy="676906"/>
          </a:xfrm>
          <a:custGeom>
            <a:avLst/>
            <a:gdLst/>
            <a:ahLst/>
            <a:cxnLst/>
            <a:rect l="l" t="t" r="r" b="b"/>
            <a:pathLst>
              <a:path w="914070" h="676906">
                <a:moveTo>
                  <a:pt x="0" y="0"/>
                </a:moveTo>
                <a:lnTo>
                  <a:pt x="914070" y="0"/>
                </a:lnTo>
                <a:lnTo>
                  <a:pt x="914070" y="676905"/>
                </a:lnTo>
                <a:lnTo>
                  <a:pt x="0" y="676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061692" y="2113811"/>
            <a:ext cx="495176" cy="722206"/>
          </a:xfrm>
          <a:custGeom>
            <a:avLst/>
            <a:gdLst/>
            <a:ahLst/>
            <a:cxnLst/>
            <a:rect l="l" t="t" r="r" b="b"/>
            <a:pathLst>
              <a:path w="495176" h="722206">
                <a:moveTo>
                  <a:pt x="0" y="0"/>
                </a:moveTo>
                <a:lnTo>
                  <a:pt x="495176" y="0"/>
                </a:lnTo>
                <a:lnTo>
                  <a:pt x="495176" y="722207"/>
                </a:lnTo>
                <a:lnTo>
                  <a:pt x="0" y="722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921387" y="1260362"/>
            <a:ext cx="648839" cy="655892"/>
          </a:xfrm>
          <a:custGeom>
            <a:avLst/>
            <a:gdLst/>
            <a:ahLst/>
            <a:cxnLst/>
            <a:rect l="l" t="t" r="r" b="b"/>
            <a:pathLst>
              <a:path w="648839" h="655892">
                <a:moveTo>
                  <a:pt x="0" y="0"/>
                </a:moveTo>
                <a:lnTo>
                  <a:pt x="648839" y="0"/>
                </a:lnTo>
                <a:lnTo>
                  <a:pt x="648839" y="655892"/>
                </a:lnTo>
                <a:lnTo>
                  <a:pt x="0" y="65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118857" y="2945897"/>
            <a:ext cx="779792" cy="550356"/>
          </a:xfrm>
          <a:custGeom>
            <a:avLst/>
            <a:gdLst/>
            <a:ahLst/>
            <a:cxnLst/>
            <a:rect l="l" t="t" r="r" b="b"/>
            <a:pathLst>
              <a:path w="779792" h="550356">
                <a:moveTo>
                  <a:pt x="0" y="0"/>
                </a:moveTo>
                <a:lnTo>
                  <a:pt x="779792" y="0"/>
                </a:lnTo>
                <a:lnTo>
                  <a:pt x="779792" y="550356"/>
                </a:lnTo>
                <a:lnTo>
                  <a:pt x="0" y="5503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52600" y="4485906"/>
            <a:ext cx="14782800" cy="3011995"/>
          </a:xfrm>
          <a:custGeom>
            <a:avLst/>
            <a:gdLst/>
            <a:ahLst/>
            <a:cxnLst/>
            <a:rect l="l" t="t" r="r" b="b"/>
            <a:pathLst>
              <a:path w="14782800" h="3011995">
                <a:moveTo>
                  <a:pt x="0" y="0"/>
                </a:moveTo>
                <a:lnTo>
                  <a:pt x="14782800" y="0"/>
                </a:lnTo>
                <a:lnTo>
                  <a:pt x="14782800" y="3011995"/>
                </a:lnTo>
                <a:lnTo>
                  <a:pt x="0" y="3011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41656" y="7469326"/>
            <a:ext cx="320040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Tính nguyên gốc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67600" y="7469326"/>
            <a:ext cx="327660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Thân thiện người dùng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35603" y="7469326"/>
            <a:ext cx="3208744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Phong cách trình diễn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31637" y="3258182"/>
            <a:ext cx="312420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Mức độ hoàn thiện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33781" y="3258182"/>
            <a:ext cx="312420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Bền vững kỹ thuật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1656" y="7880441"/>
            <a:ext cx="3200400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Giải pháp mang tính sáng tạo, khác biệt và có giá trị mới so với các sản phẩm hiện có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7600" y="7880441"/>
            <a:ext cx="3276600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Giao diện trực quan, dễ sử dụng, trải nghiệm người dùng rõ ràng và nhất quán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35603" y="7880441"/>
            <a:ext cx="3208744" cy="54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Trình bày tự tin, thu hút, truyền đạt rõ giá trị sản phẩm đến ban giám khảo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31637" y="3669296"/>
            <a:ext cx="3124200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Sản phẩm hoạt động đầy đủ các tính năng đã đề xuất, ổn định và không lỗi trong demo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33781" y="3669296"/>
            <a:ext cx="3124200" cy="54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Kiến trúc kỹ thuật rõ ràng, có khả năng mở rộng và duy trì lâu dài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53602" y="628650"/>
            <a:ext cx="12033998" cy="828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1"/>
              </a:lnSpc>
            </a:pPr>
            <a:r>
              <a:rPr lang="en-US" sz="5596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Tiêu chí chấm sản phẩm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53602" y="1636828"/>
            <a:ext cx="12033998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Đánh giá giá trị thực tế của sản phẩm sau vòng PoF tại chung kết</a:t>
            </a:r>
          </a:p>
        </p:txBody>
      </p:sp>
      <p:sp>
        <p:nvSpPr>
          <p:cNvPr id="15" name="Freeform 15"/>
          <p:cNvSpPr/>
          <p:nvPr/>
        </p:nvSpPr>
        <p:spPr>
          <a:xfrm>
            <a:off x="2433100" y="5213193"/>
            <a:ext cx="1617511" cy="1614570"/>
          </a:xfrm>
          <a:custGeom>
            <a:avLst/>
            <a:gdLst/>
            <a:ahLst/>
            <a:cxnLst/>
            <a:rect l="l" t="t" r="r" b="b"/>
            <a:pathLst>
              <a:path w="1617511" h="1614570">
                <a:moveTo>
                  <a:pt x="0" y="0"/>
                </a:moveTo>
                <a:lnTo>
                  <a:pt x="1617512" y="0"/>
                </a:lnTo>
                <a:lnTo>
                  <a:pt x="1617512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384981" y="5213193"/>
            <a:ext cx="1617511" cy="1614570"/>
          </a:xfrm>
          <a:custGeom>
            <a:avLst/>
            <a:gdLst/>
            <a:ahLst/>
            <a:cxnLst/>
            <a:rect l="l" t="t" r="r" b="b"/>
            <a:pathLst>
              <a:path w="1617511" h="1614570">
                <a:moveTo>
                  <a:pt x="0" y="0"/>
                </a:moveTo>
                <a:lnTo>
                  <a:pt x="1617511" y="0"/>
                </a:lnTo>
                <a:lnTo>
                  <a:pt x="1617511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335244" y="5213193"/>
            <a:ext cx="1617511" cy="1614570"/>
          </a:xfrm>
          <a:custGeom>
            <a:avLst/>
            <a:gdLst/>
            <a:ahLst/>
            <a:cxnLst/>
            <a:rect l="l" t="t" r="r" b="b"/>
            <a:pathLst>
              <a:path w="1617511" h="1614570">
                <a:moveTo>
                  <a:pt x="0" y="0"/>
                </a:moveTo>
                <a:lnTo>
                  <a:pt x="1617512" y="0"/>
                </a:lnTo>
                <a:lnTo>
                  <a:pt x="1617512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287125" y="5213193"/>
            <a:ext cx="1617511" cy="1614570"/>
          </a:xfrm>
          <a:custGeom>
            <a:avLst/>
            <a:gdLst/>
            <a:ahLst/>
            <a:cxnLst/>
            <a:rect l="l" t="t" r="r" b="b"/>
            <a:pathLst>
              <a:path w="1617511" h="1614570">
                <a:moveTo>
                  <a:pt x="0" y="0"/>
                </a:moveTo>
                <a:lnTo>
                  <a:pt x="1617511" y="0"/>
                </a:lnTo>
                <a:lnTo>
                  <a:pt x="1617511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231219" y="5213193"/>
            <a:ext cx="1617511" cy="1614570"/>
          </a:xfrm>
          <a:custGeom>
            <a:avLst/>
            <a:gdLst/>
            <a:ahLst/>
            <a:cxnLst/>
            <a:rect l="l" t="t" r="r" b="b"/>
            <a:pathLst>
              <a:path w="1617511" h="1614570">
                <a:moveTo>
                  <a:pt x="0" y="0"/>
                </a:moveTo>
                <a:lnTo>
                  <a:pt x="1617512" y="0"/>
                </a:lnTo>
                <a:lnTo>
                  <a:pt x="1617512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2569828" y="5242830"/>
            <a:ext cx="1344055" cy="134405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1709" y="5242830"/>
            <a:ext cx="1344055" cy="134405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71972" y="5242830"/>
            <a:ext cx="1344055" cy="134405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23853" y="5242830"/>
            <a:ext cx="1344055" cy="134405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367947" y="5242830"/>
            <a:ext cx="1344055" cy="134405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Freeform 35"/>
          <p:cNvSpPr/>
          <p:nvPr/>
        </p:nvSpPr>
        <p:spPr>
          <a:xfrm>
            <a:off x="8774343" y="5430841"/>
            <a:ext cx="793647" cy="1001077"/>
          </a:xfrm>
          <a:custGeom>
            <a:avLst/>
            <a:gdLst/>
            <a:ahLst/>
            <a:cxnLst/>
            <a:rect l="l" t="t" r="r" b="b"/>
            <a:pathLst>
              <a:path w="793647" h="1001077">
                <a:moveTo>
                  <a:pt x="0" y="0"/>
                </a:moveTo>
                <a:lnTo>
                  <a:pt x="793647" y="0"/>
                </a:lnTo>
                <a:lnTo>
                  <a:pt x="793647" y="1001077"/>
                </a:lnTo>
                <a:lnTo>
                  <a:pt x="0" y="1001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943548" y="5579284"/>
            <a:ext cx="610017" cy="781653"/>
          </a:xfrm>
          <a:custGeom>
            <a:avLst/>
            <a:gdLst/>
            <a:ahLst/>
            <a:cxnLst/>
            <a:rect l="l" t="t" r="r" b="b"/>
            <a:pathLst>
              <a:path w="610017" h="781653">
                <a:moveTo>
                  <a:pt x="0" y="0"/>
                </a:moveTo>
                <a:lnTo>
                  <a:pt x="610017" y="0"/>
                </a:lnTo>
                <a:lnTo>
                  <a:pt x="610017" y="781653"/>
                </a:lnTo>
                <a:lnTo>
                  <a:pt x="0" y="781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737431" y="5425352"/>
            <a:ext cx="921921" cy="723914"/>
          </a:xfrm>
          <a:custGeom>
            <a:avLst/>
            <a:gdLst/>
            <a:ahLst/>
            <a:cxnLst/>
            <a:rect l="l" t="t" r="r" b="b"/>
            <a:pathLst>
              <a:path w="921921" h="723914">
                <a:moveTo>
                  <a:pt x="0" y="0"/>
                </a:moveTo>
                <a:lnTo>
                  <a:pt x="921922" y="0"/>
                </a:lnTo>
                <a:lnTo>
                  <a:pt x="921922" y="723914"/>
                </a:lnTo>
                <a:lnTo>
                  <a:pt x="0" y="7239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1663154" y="5546204"/>
            <a:ext cx="887855" cy="778994"/>
          </a:xfrm>
          <a:custGeom>
            <a:avLst/>
            <a:gdLst/>
            <a:ahLst/>
            <a:cxnLst/>
            <a:rect l="l" t="t" r="r" b="b"/>
            <a:pathLst>
              <a:path w="887855" h="778994">
                <a:moveTo>
                  <a:pt x="0" y="0"/>
                </a:moveTo>
                <a:lnTo>
                  <a:pt x="887856" y="0"/>
                </a:lnTo>
                <a:lnTo>
                  <a:pt x="887856" y="778994"/>
                </a:lnTo>
                <a:lnTo>
                  <a:pt x="0" y="7789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4600262" y="5620157"/>
            <a:ext cx="874328" cy="582488"/>
          </a:xfrm>
          <a:custGeom>
            <a:avLst/>
            <a:gdLst/>
            <a:ahLst/>
            <a:cxnLst/>
            <a:rect l="l" t="t" r="r" b="b"/>
            <a:pathLst>
              <a:path w="874328" h="582488">
                <a:moveTo>
                  <a:pt x="0" y="0"/>
                </a:moveTo>
                <a:lnTo>
                  <a:pt x="874327" y="0"/>
                </a:lnTo>
                <a:lnTo>
                  <a:pt x="874327" y="582489"/>
                </a:lnTo>
                <a:lnTo>
                  <a:pt x="0" y="5824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56554" y="3193361"/>
            <a:ext cx="6474514" cy="6474514"/>
          </a:xfrm>
          <a:custGeom>
            <a:avLst/>
            <a:gdLst/>
            <a:ahLst/>
            <a:cxnLst/>
            <a:rect l="l" t="t" r="r" b="b"/>
            <a:pathLst>
              <a:path w="6474514" h="6474514">
                <a:moveTo>
                  <a:pt x="0" y="0"/>
                </a:moveTo>
                <a:lnTo>
                  <a:pt x="6474513" y="0"/>
                </a:lnTo>
                <a:lnTo>
                  <a:pt x="6474513" y="6474514"/>
                </a:lnTo>
                <a:lnTo>
                  <a:pt x="0" y="647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315290" y="3167102"/>
            <a:ext cx="5657421" cy="5657421"/>
            <a:chOff x="0" y="0"/>
            <a:chExt cx="2423704" cy="24237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3704" cy="2423704"/>
            </a:xfrm>
            <a:custGeom>
              <a:avLst/>
              <a:gdLst/>
              <a:ahLst/>
              <a:cxnLst/>
              <a:rect l="l" t="t" r="r" b="b"/>
              <a:pathLst>
                <a:path w="2423704" h="2423704">
                  <a:moveTo>
                    <a:pt x="101266" y="0"/>
                  </a:moveTo>
                  <a:lnTo>
                    <a:pt x="2322439" y="0"/>
                  </a:lnTo>
                  <a:cubicBezTo>
                    <a:pt x="2349296" y="0"/>
                    <a:pt x="2375053" y="10669"/>
                    <a:pt x="2394044" y="29660"/>
                  </a:cubicBezTo>
                  <a:cubicBezTo>
                    <a:pt x="2413035" y="48651"/>
                    <a:pt x="2423704" y="74408"/>
                    <a:pt x="2423704" y="101266"/>
                  </a:cubicBezTo>
                  <a:lnTo>
                    <a:pt x="2423704" y="2322439"/>
                  </a:lnTo>
                  <a:cubicBezTo>
                    <a:pt x="2423704" y="2349296"/>
                    <a:pt x="2413035" y="2375053"/>
                    <a:pt x="2394044" y="2394044"/>
                  </a:cubicBezTo>
                  <a:cubicBezTo>
                    <a:pt x="2375053" y="2413035"/>
                    <a:pt x="2349296" y="2423704"/>
                    <a:pt x="2322439" y="2423704"/>
                  </a:cubicBezTo>
                  <a:lnTo>
                    <a:pt x="101266" y="2423704"/>
                  </a:lnTo>
                  <a:cubicBezTo>
                    <a:pt x="74408" y="2423704"/>
                    <a:pt x="48651" y="2413035"/>
                    <a:pt x="29660" y="2394044"/>
                  </a:cubicBezTo>
                  <a:cubicBezTo>
                    <a:pt x="10669" y="2375053"/>
                    <a:pt x="0" y="2349296"/>
                    <a:pt x="0" y="2322439"/>
                  </a:cubicBezTo>
                  <a:lnTo>
                    <a:pt x="0" y="101266"/>
                  </a:lnTo>
                  <a:cubicBezTo>
                    <a:pt x="0" y="74408"/>
                    <a:pt x="10669" y="48651"/>
                    <a:pt x="29660" y="29660"/>
                  </a:cubicBezTo>
                  <a:cubicBezTo>
                    <a:pt x="48651" y="10669"/>
                    <a:pt x="74408" y="0"/>
                    <a:pt x="101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423704" cy="2452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6619507" y="3466158"/>
            <a:ext cx="5059310" cy="5059310"/>
          </a:xfrm>
          <a:custGeom>
            <a:avLst/>
            <a:gdLst/>
            <a:ahLst/>
            <a:cxnLst/>
            <a:rect l="l" t="t" r="r" b="b"/>
            <a:pathLst>
              <a:path w="5059310" h="5059310">
                <a:moveTo>
                  <a:pt x="0" y="0"/>
                </a:moveTo>
                <a:lnTo>
                  <a:pt x="5059310" y="0"/>
                </a:lnTo>
                <a:lnTo>
                  <a:pt x="5059310" y="5059309"/>
                </a:lnTo>
                <a:lnTo>
                  <a:pt x="0" y="50593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52600" y="4104205"/>
            <a:ext cx="3860115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1 Vấn Đề Cụ Thể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02517" y="4104205"/>
            <a:ext cx="3857625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1 Luồng Xử Lý Chính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00" y="6815995"/>
            <a:ext cx="3860115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1 Điểm Sáng Tạo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02517" y="6815995"/>
            <a:ext cx="3857625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1 MVP Demo Được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2600" y="4592701"/>
            <a:ext cx="3860115" cy="61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Xác định rõ bài toán thực tế, không ôm quá nhiều chức năng cùng lúc.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02517" y="4592701"/>
            <a:ext cx="3857625" cy="61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Thiết kế một luồng nghiệp vụ rõ ràng, tránh chọn đề tài quá rộng.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00" y="7304491"/>
            <a:ext cx="3860115" cy="61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Thêm một tính năng nổi bật, tránh công nghệ quá phức tạp.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02517" y="7304491"/>
            <a:ext cx="3857625" cy="615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Xây dựng sản phẩm có thể chạy và trình diễn được trong thời gian giới hạn.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53602" y="628650"/>
            <a:ext cx="12033998" cy="828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1"/>
              </a:lnSpc>
            </a:pPr>
            <a:r>
              <a:rPr lang="en-US" sz="5596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Cách Chọn Phạm Vi Đúng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53602" y="1636828"/>
            <a:ext cx="12033998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Công thức giúp dự án rõ ràng, hoàn thiện và demo hiệu quả.</a:t>
            </a:r>
          </a:p>
        </p:txBody>
      </p:sp>
      <p:sp>
        <p:nvSpPr>
          <p:cNvPr id="17" name="Freeform 17"/>
          <p:cNvSpPr/>
          <p:nvPr/>
        </p:nvSpPr>
        <p:spPr>
          <a:xfrm>
            <a:off x="7330371" y="4102616"/>
            <a:ext cx="1078991" cy="1027428"/>
          </a:xfrm>
          <a:custGeom>
            <a:avLst/>
            <a:gdLst/>
            <a:ahLst/>
            <a:cxnLst/>
            <a:rect l="l" t="t" r="r" b="b"/>
            <a:pathLst>
              <a:path w="1078991" h="1027428">
                <a:moveTo>
                  <a:pt x="0" y="0"/>
                </a:moveTo>
                <a:lnTo>
                  <a:pt x="1078990" y="0"/>
                </a:lnTo>
                <a:lnTo>
                  <a:pt x="1078990" y="1027428"/>
                </a:lnTo>
                <a:lnTo>
                  <a:pt x="0" y="102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039666" y="6916860"/>
            <a:ext cx="885986" cy="952363"/>
          </a:xfrm>
          <a:custGeom>
            <a:avLst/>
            <a:gdLst/>
            <a:ahLst/>
            <a:cxnLst/>
            <a:rect l="l" t="t" r="r" b="b"/>
            <a:pathLst>
              <a:path w="885986" h="952363">
                <a:moveTo>
                  <a:pt x="0" y="0"/>
                </a:moveTo>
                <a:lnTo>
                  <a:pt x="885986" y="0"/>
                </a:lnTo>
                <a:lnTo>
                  <a:pt x="885986" y="952364"/>
                </a:lnTo>
                <a:lnTo>
                  <a:pt x="0" y="9523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028589" y="4184912"/>
            <a:ext cx="903216" cy="586572"/>
          </a:xfrm>
          <a:custGeom>
            <a:avLst/>
            <a:gdLst/>
            <a:ahLst/>
            <a:cxnLst/>
            <a:rect l="l" t="t" r="r" b="b"/>
            <a:pathLst>
              <a:path w="903216" h="586572">
                <a:moveTo>
                  <a:pt x="0" y="0"/>
                </a:moveTo>
                <a:lnTo>
                  <a:pt x="903217" y="0"/>
                </a:lnTo>
                <a:lnTo>
                  <a:pt x="903217" y="586571"/>
                </a:lnTo>
                <a:lnTo>
                  <a:pt x="0" y="586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371794" y="6723254"/>
            <a:ext cx="953408" cy="1403481"/>
          </a:xfrm>
          <a:custGeom>
            <a:avLst/>
            <a:gdLst/>
            <a:ahLst/>
            <a:cxnLst/>
            <a:rect l="l" t="t" r="r" b="b"/>
            <a:pathLst>
              <a:path w="953408" h="1403481">
                <a:moveTo>
                  <a:pt x="0" y="0"/>
                </a:moveTo>
                <a:lnTo>
                  <a:pt x="953409" y="0"/>
                </a:lnTo>
                <a:lnTo>
                  <a:pt x="953409" y="1403481"/>
                </a:lnTo>
                <a:lnTo>
                  <a:pt x="0" y="14034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53602" y="628650"/>
            <a:ext cx="12033998" cy="828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6"/>
              </a:lnSpc>
            </a:pPr>
            <a:r>
              <a:rPr lang="en-US" sz="5600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Công cụ gợi ý Frontend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53602" y="1636828"/>
            <a:ext cx="12033998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Chọn đúng công cụ giúp xây dựng giao diện nhanh, rõ ràng và dễ demo trong cuộc thi</a:t>
            </a:r>
          </a:p>
        </p:txBody>
      </p:sp>
      <p:sp>
        <p:nvSpPr>
          <p:cNvPr id="4" name="Freeform 4"/>
          <p:cNvSpPr/>
          <p:nvPr/>
        </p:nvSpPr>
        <p:spPr>
          <a:xfrm rot="-600000">
            <a:off x="1306616" y="4249576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0" y="0"/>
                </a:moveTo>
                <a:lnTo>
                  <a:pt x="3494314" y="0"/>
                </a:lnTo>
                <a:lnTo>
                  <a:pt x="3494314" y="4285311"/>
                </a:lnTo>
                <a:lnTo>
                  <a:pt x="0" y="4285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 rot="-600000">
            <a:off x="1784618" y="5536444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Next.js</a:t>
            </a:r>
          </a:p>
        </p:txBody>
      </p:sp>
      <p:sp>
        <p:nvSpPr>
          <p:cNvPr id="6" name="TextBox 6"/>
          <p:cNvSpPr txBox="1"/>
          <p:nvPr/>
        </p:nvSpPr>
        <p:spPr>
          <a:xfrm rot="-600000">
            <a:off x="1960620" y="6130153"/>
            <a:ext cx="2501696" cy="110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Framework React mạnh mẽ, hỗ trợ SSR và SSG, routing tích hợp, dễ triển khai và demo nhanh</a:t>
            </a:r>
          </a:p>
        </p:txBody>
      </p:sp>
      <p:sp>
        <p:nvSpPr>
          <p:cNvPr id="7" name="Freeform 7"/>
          <p:cNvSpPr/>
          <p:nvPr/>
        </p:nvSpPr>
        <p:spPr>
          <a:xfrm rot="-299999">
            <a:off x="5336076" y="3505987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0" y="0"/>
                </a:moveTo>
                <a:lnTo>
                  <a:pt x="3494315" y="0"/>
                </a:lnTo>
                <a:lnTo>
                  <a:pt x="3494315" y="4285311"/>
                </a:lnTo>
                <a:lnTo>
                  <a:pt x="0" y="4285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 rot="-299999">
            <a:off x="5875785" y="4793950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React + Vite</a:t>
            </a:r>
          </a:p>
        </p:txBody>
      </p:sp>
      <p:sp>
        <p:nvSpPr>
          <p:cNvPr id="9" name="TextBox 9"/>
          <p:cNvSpPr txBox="1"/>
          <p:nvPr/>
        </p:nvSpPr>
        <p:spPr>
          <a:xfrm rot="-299999">
            <a:off x="5964122" y="5399200"/>
            <a:ext cx="2501696" cy="110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Khởi tạo nhanh, build tốc độ cao, phù hợp SPA và các dự án MVP cần phát triển linh hoạt</a:t>
            </a:r>
          </a:p>
        </p:txBody>
      </p:sp>
      <p:sp>
        <p:nvSpPr>
          <p:cNvPr id="10" name="Freeform 10"/>
          <p:cNvSpPr/>
          <p:nvPr/>
        </p:nvSpPr>
        <p:spPr>
          <a:xfrm rot="-299999">
            <a:off x="5685849" y="3923284"/>
            <a:ext cx="465342" cy="423978"/>
          </a:xfrm>
          <a:custGeom>
            <a:avLst/>
            <a:gdLst/>
            <a:ahLst/>
            <a:cxnLst/>
            <a:rect l="l" t="t" r="r" b="b"/>
            <a:pathLst>
              <a:path w="465342" h="423978">
                <a:moveTo>
                  <a:pt x="0" y="0"/>
                </a:moveTo>
                <a:lnTo>
                  <a:pt x="465342" y="0"/>
                </a:lnTo>
                <a:lnTo>
                  <a:pt x="465342" y="423978"/>
                </a:lnTo>
                <a:lnTo>
                  <a:pt x="0" y="4239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299999" flipH="1">
            <a:off x="9457609" y="3505987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3494315" y="0"/>
                </a:moveTo>
                <a:lnTo>
                  <a:pt x="0" y="0"/>
                </a:lnTo>
                <a:lnTo>
                  <a:pt x="0" y="4285311"/>
                </a:lnTo>
                <a:lnTo>
                  <a:pt x="3494315" y="4285311"/>
                </a:lnTo>
                <a:lnTo>
                  <a:pt x="349431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 rot="299999">
            <a:off x="9929780" y="4795635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shadcn/ui</a:t>
            </a:r>
          </a:p>
        </p:txBody>
      </p:sp>
      <p:sp>
        <p:nvSpPr>
          <p:cNvPr id="13" name="TextBox 13"/>
          <p:cNvSpPr txBox="1"/>
          <p:nvPr/>
        </p:nvSpPr>
        <p:spPr>
          <a:xfrm rot="299999">
            <a:off x="9841442" y="5400885"/>
            <a:ext cx="2501696" cy="110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Thư viện component hiện đại, tối giản, dễ tuỳ biến, tích hợp tốt với Next.js và Tailwind CSS</a:t>
            </a:r>
          </a:p>
        </p:txBody>
      </p:sp>
      <p:sp>
        <p:nvSpPr>
          <p:cNvPr id="14" name="Freeform 14"/>
          <p:cNvSpPr/>
          <p:nvPr/>
        </p:nvSpPr>
        <p:spPr>
          <a:xfrm rot="299999">
            <a:off x="12134100" y="3947172"/>
            <a:ext cx="467957" cy="407668"/>
          </a:xfrm>
          <a:custGeom>
            <a:avLst/>
            <a:gdLst/>
            <a:ahLst/>
            <a:cxnLst/>
            <a:rect l="l" t="t" r="r" b="b"/>
            <a:pathLst>
              <a:path w="467957" h="407668">
                <a:moveTo>
                  <a:pt x="0" y="0"/>
                </a:moveTo>
                <a:lnTo>
                  <a:pt x="467957" y="0"/>
                </a:lnTo>
                <a:lnTo>
                  <a:pt x="467957" y="407668"/>
                </a:lnTo>
                <a:lnTo>
                  <a:pt x="0" y="4076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600000" flipH="1">
            <a:off x="13483892" y="4249576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3494314" y="0"/>
                </a:moveTo>
                <a:lnTo>
                  <a:pt x="0" y="0"/>
                </a:lnTo>
                <a:lnTo>
                  <a:pt x="0" y="4285311"/>
                </a:lnTo>
                <a:lnTo>
                  <a:pt x="3494314" y="4285311"/>
                </a:lnTo>
                <a:lnTo>
                  <a:pt x="349431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 rot="600000">
            <a:off x="14026351" y="5541353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Ant Design</a:t>
            </a:r>
          </a:p>
        </p:txBody>
      </p:sp>
      <p:sp>
        <p:nvSpPr>
          <p:cNvPr id="17" name="TextBox 17"/>
          <p:cNvSpPr txBox="1"/>
          <p:nvPr/>
        </p:nvSpPr>
        <p:spPr>
          <a:xfrm rot="600000">
            <a:off x="13850349" y="6135062"/>
            <a:ext cx="2501696" cy="110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Bộ UI component đầy đủ, chuẩn doanh nghiệp, phù hợp dashboard và giao diện quản trị phức tạp.</a:t>
            </a:r>
          </a:p>
        </p:txBody>
      </p:sp>
      <p:sp>
        <p:nvSpPr>
          <p:cNvPr id="18" name="Freeform 18"/>
          <p:cNvSpPr/>
          <p:nvPr/>
        </p:nvSpPr>
        <p:spPr>
          <a:xfrm rot="600000">
            <a:off x="16287534" y="4801296"/>
            <a:ext cx="444439" cy="448922"/>
          </a:xfrm>
          <a:custGeom>
            <a:avLst/>
            <a:gdLst/>
            <a:ahLst/>
            <a:cxnLst/>
            <a:rect l="l" t="t" r="r" b="b"/>
            <a:pathLst>
              <a:path w="444439" h="448922">
                <a:moveTo>
                  <a:pt x="0" y="0"/>
                </a:moveTo>
                <a:lnTo>
                  <a:pt x="444439" y="0"/>
                </a:lnTo>
                <a:lnTo>
                  <a:pt x="444439" y="448922"/>
                </a:lnTo>
                <a:lnTo>
                  <a:pt x="0" y="4489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600000">
            <a:off x="1573999" y="4804553"/>
            <a:ext cx="398113" cy="365958"/>
          </a:xfrm>
          <a:custGeom>
            <a:avLst/>
            <a:gdLst/>
            <a:ahLst/>
            <a:cxnLst/>
            <a:rect l="l" t="t" r="r" b="b"/>
            <a:pathLst>
              <a:path w="398113" h="365958">
                <a:moveTo>
                  <a:pt x="0" y="0"/>
                </a:moveTo>
                <a:lnTo>
                  <a:pt x="398113" y="0"/>
                </a:lnTo>
                <a:lnTo>
                  <a:pt x="398113" y="365958"/>
                </a:lnTo>
                <a:lnTo>
                  <a:pt x="0" y="3659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70352" y="609600"/>
            <a:ext cx="11925062" cy="9114609"/>
            <a:chOff x="0" y="0"/>
            <a:chExt cx="995524" cy="7609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5524" cy="760903"/>
            </a:xfrm>
            <a:custGeom>
              <a:avLst/>
              <a:gdLst/>
              <a:ahLst/>
              <a:cxnLst/>
              <a:rect l="l" t="t" r="r" b="b"/>
              <a:pathLst>
                <a:path w="995524" h="760903">
                  <a:moveTo>
                    <a:pt x="995524" y="380451"/>
                  </a:moveTo>
                  <a:lnTo>
                    <a:pt x="589124" y="0"/>
                  </a:lnTo>
                  <a:lnTo>
                    <a:pt x="589124" y="203200"/>
                  </a:lnTo>
                  <a:lnTo>
                    <a:pt x="0" y="203200"/>
                  </a:lnTo>
                  <a:lnTo>
                    <a:pt x="0" y="557703"/>
                  </a:lnTo>
                  <a:lnTo>
                    <a:pt x="589124" y="557703"/>
                  </a:lnTo>
                  <a:lnTo>
                    <a:pt x="589124" y="760903"/>
                  </a:lnTo>
                  <a:lnTo>
                    <a:pt x="995524" y="380451"/>
                  </a:lnTo>
                  <a:close/>
                </a:path>
              </a:pathLst>
            </a:custGeom>
            <a:solidFill>
              <a:srgbClr val="CADBE8">
                <a:alpha val="2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74625"/>
              <a:ext cx="893924" cy="383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2270663" y="609600"/>
            <a:ext cx="7052746" cy="1808068"/>
          </a:xfrm>
          <a:custGeom>
            <a:avLst/>
            <a:gdLst/>
            <a:ahLst/>
            <a:cxnLst/>
            <a:rect l="l" t="t" r="r" b="b"/>
            <a:pathLst>
              <a:path w="7052746" h="1808068">
                <a:moveTo>
                  <a:pt x="0" y="0"/>
                </a:moveTo>
                <a:lnTo>
                  <a:pt x="7052746" y="0"/>
                </a:lnTo>
                <a:lnTo>
                  <a:pt x="7052746" y="1808068"/>
                </a:lnTo>
                <a:lnTo>
                  <a:pt x="0" y="1808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3710084" y="830783"/>
            <a:ext cx="3989834" cy="1022848"/>
          </a:xfrm>
          <a:custGeom>
            <a:avLst/>
            <a:gdLst/>
            <a:ahLst/>
            <a:cxnLst/>
            <a:rect l="l" t="t" r="r" b="b"/>
            <a:pathLst>
              <a:path w="3989834" h="1022848">
                <a:moveTo>
                  <a:pt x="0" y="0"/>
                </a:moveTo>
                <a:lnTo>
                  <a:pt x="3989834" y="0"/>
                </a:lnTo>
                <a:lnTo>
                  <a:pt x="3989834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70663" y="8280050"/>
            <a:ext cx="7052746" cy="1808068"/>
          </a:xfrm>
          <a:custGeom>
            <a:avLst/>
            <a:gdLst/>
            <a:ahLst/>
            <a:cxnLst/>
            <a:rect l="l" t="t" r="r" b="b"/>
            <a:pathLst>
              <a:path w="7052746" h="1808068">
                <a:moveTo>
                  <a:pt x="0" y="0"/>
                </a:moveTo>
                <a:lnTo>
                  <a:pt x="7052746" y="0"/>
                </a:lnTo>
                <a:lnTo>
                  <a:pt x="7052746" y="1808068"/>
                </a:lnTo>
                <a:lnTo>
                  <a:pt x="0" y="1808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3710084" y="8501233"/>
            <a:ext cx="3989834" cy="1022848"/>
          </a:xfrm>
          <a:custGeom>
            <a:avLst/>
            <a:gdLst/>
            <a:ahLst/>
            <a:cxnLst/>
            <a:rect l="l" t="t" r="r" b="b"/>
            <a:pathLst>
              <a:path w="3989834" h="1022848">
                <a:moveTo>
                  <a:pt x="0" y="0"/>
                </a:moveTo>
                <a:lnTo>
                  <a:pt x="3989834" y="0"/>
                </a:lnTo>
                <a:lnTo>
                  <a:pt x="3989834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36257" y="2524247"/>
            <a:ext cx="7052746" cy="1808068"/>
          </a:xfrm>
          <a:custGeom>
            <a:avLst/>
            <a:gdLst/>
            <a:ahLst/>
            <a:cxnLst/>
            <a:rect l="l" t="t" r="r" b="b"/>
            <a:pathLst>
              <a:path w="7052746" h="1808068">
                <a:moveTo>
                  <a:pt x="0" y="0"/>
                </a:moveTo>
                <a:lnTo>
                  <a:pt x="7052746" y="0"/>
                </a:lnTo>
                <a:lnTo>
                  <a:pt x="7052746" y="1808067"/>
                </a:lnTo>
                <a:lnTo>
                  <a:pt x="0" y="1808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6275678" y="2745430"/>
            <a:ext cx="3989834" cy="1022848"/>
          </a:xfrm>
          <a:custGeom>
            <a:avLst/>
            <a:gdLst/>
            <a:ahLst/>
            <a:cxnLst/>
            <a:rect l="l" t="t" r="r" b="b"/>
            <a:pathLst>
              <a:path w="3989834" h="1022848">
                <a:moveTo>
                  <a:pt x="0" y="0"/>
                </a:moveTo>
                <a:lnTo>
                  <a:pt x="3989833" y="0"/>
                </a:lnTo>
                <a:lnTo>
                  <a:pt x="3989833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836257" y="6356674"/>
            <a:ext cx="7052746" cy="1808068"/>
          </a:xfrm>
          <a:custGeom>
            <a:avLst/>
            <a:gdLst/>
            <a:ahLst/>
            <a:cxnLst/>
            <a:rect l="l" t="t" r="r" b="b"/>
            <a:pathLst>
              <a:path w="7052746" h="1808068">
                <a:moveTo>
                  <a:pt x="0" y="0"/>
                </a:moveTo>
                <a:lnTo>
                  <a:pt x="7052746" y="0"/>
                </a:lnTo>
                <a:lnTo>
                  <a:pt x="7052746" y="1808067"/>
                </a:lnTo>
                <a:lnTo>
                  <a:pt x="0" y="1808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6275678" y="6577857"/>
            <a:ext cx="3989834" cy="1022848"/>
          </a:xfrm>
          <a:custGeom>
            <a:avLst/>
            <a:gdLst/>
            <a:ahLst/>
            <a:cxnLst/>
            <a:rect l="l" t="t" r="r" b="b"/>
            <a:pathLst>
              <a:path w="3989834" h="1022848">
                <a:moveTo>
                  <a:pt x="0" y="0"/>
                </a:moveTo>
                <a:lnTo>
                  <a:pt x="3989833" y="0"/>
                </a:lnTo>
                <a:lnTo>
                  <a:pt x="3989833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33151" y="4438893"/>
            <a:ext cx="7052746" cy="1808068"/>
          </a:xfrm>
          <a:custGeom>
            <a:avLst/>
            <a:gdLst/>
            <a:ahLst/>
            <a:cxnLst/>
            <a:rect l="l" t="t" r="r" b="b"/>
            <a:pathLst>
              <a:path w="7052746" h="1808068">
                <a:moveTo>
                  <a:pt x="0" y="0"/>
                </a:moveTo>
                <a:lnTo>
                  <a:pt x="7052746" y="0"/>
                </a:lnTo>
                <a:lnTo>
                  <a:pt x="7052746" y="1808068"/>
                </a:lnTo>
                <a:lnTo>
                  <a:pt x="0" y="1808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8472572" y="4660076"/>
            <a:ext cx="3989834" cy="1022848"/>
          </a:xfrm>
          <a:custGeom>
            <a:avLst/>
            <a:gdLst/>
            <a:ahLst/>
            <a:cxnLst/>
            <a:rect l="l" t="t" r="r" b="b"/>
            <a:pathLst>
              <a:path w="3989834" h="1022848">
                <a:moveTo>
                  <a:pt x="0" y="0"/>
                </a:moveTo>
                <a:lnTo>
                  <a:pt x="3989833" y="0"/>
                </a:lnTo>
                <a:lnTo>
                  <a:pt x="3989833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781550" y="1173933"/>
            <a:ext cx="2744635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FastAPI &amp; NestJS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68371" y="3093960"/>
            <a:ext cx="2744635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Xử lý logic nghiệp vụ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73570" y="1051907"/>
            <a:ext cx="4971908" cy="54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1"/>
              </a:lnSpc>
            </a:pPr>
            <a:r>
              <a:rPr lang="en-US" sz="1565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Hai framework backend gợi ý: FastAPI (Python) và NestJS (Node.js) – nhanh, hiện đại, dễ tích hợp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60391" y="2971934"/>
            <a:ext cx="4971908" cy="54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1"/>
              </a:lnSpc>
            </a:pPr>
            <a:r>
              <a:rPr lang="en-US" sz="1565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Xử lý toàn bộ quy trình nghiệp vụ của hệ thống DX-OS, đảm bảo luồng vận hành chính xác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74511" y="5013987"/>
            <a:ext cx="2744635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API &amp; Phân quyền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68371" y="6920997"/>
            <a:ext cx="2744635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Kết nối Database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81550" y="8849764"/>
            <a:ext cx="2744635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Xử lý luồng hệ thống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66531" y="4891961"/>
            <a:ext cx="4811869" cy="54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1"/>
              </a:lnSpc>
            </a:pPr>
            <a:r>
              <a:rPr lang="en-US" sz="1565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Cung cấp REST API rõ ràng và hệ thống phân quyền người dùng theo vai trò trong tổ chức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60391" y="6798971"/>
            <a:ext cx="4971908" cy="54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1"/>
              </a:lnSpc>
            </a:pPr>
            <a:r>
              <a:rPr lang="en-US" sz="1565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Kết nối và quản lý dữ liệu với SQLite hoặc PostgreSQL, hỗ trợ ORM và migration dễ dàng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73570" y="8727738"/>
            <a:ext cx="4971908" cy="54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1"/>
              </a:lnSpc>
            </a:pPr>
            <a:r>
              <a:rPr lang="en-US" sz="1565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Điều phối luồng xử lý nội bộ, hàng đợi tác vụ và tích hợp các module trong hệ thống DX-OS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9600" y="3739705"/>
            <a:ext cx="5791200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67"/>
              </a:lnSpc>
            </a:pPr>
            <a:r>
              <a:rPr lang="en-US" sz="4800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Công cụ gợi ý Backend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9074" y="5945315"/>
            <a:ext cx="5436926" cy="613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5"/>
              </a:lnSpc>
            </a:pPr>
            <a:r>
              <a:rPr lang="en-US" sz="176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Backend là xương sống của sản phẩm – chọn đúng framework giúp xây dựng API nhanh và dễ tích hợp</a:t>
            </a:r>
          </a:p>
        </p:txBody>
      </p:sp>
      <p:sp>
        <p:nvSpPr>
          <p:cNvPr id="27" name="Freeform 27"/>
          <p:cNvSpPr/>
          <p:nvPr/>
        </p:nvSpPr>
        <p:spPr>
          <a:xfrm>
            <a:off x="4033840" y="1019795"/>
            <a:ext cx="389740" cy="522287"/>
          </a:xfrm>
          <a:custGeom>
            <a:avLst/>
            <a:gdLst/>
            <a:ahLst/>
            <a:cxnLst/>
            <a:rect l="l" t="t" r="r" b="b"/>
            <a:pathLst>
              <a:path w="389740" h="522287">
                <a:moveTo>
                  <a:pt x="0" y="0"/>
                </a:moveTo>
                <a:lnTo>
                  <a:pt x="389740" y="0"/>
                </a:lnTo>
                <a:lnTo>
                  <a:pt x="389740" y="522287"/>
                </a:lnTo>
                <a:lnTo>
                  <a:pt x="0" y="5222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3922200" y="8811583"/>
            <a:ext cx="620491" cy="406643"/>
          </a:xfrm>
          <a:custGeom>
            <a:avLst/>
            <a:gdLst/>
            <a:ahLst/>
            <a:cxnLst/>
            <a:rect l="l" t="t" r="r" b="b"/>
            <a:pathLst>
              <a:path w="620491" h="406643">
                <a:moveTo>
                  <a:pt x="0" y="0"/>
                </a:moveTo>
                <a:lnTo>
                  <a:pt x="620491" y="0"/>
                </a:lnTo>
                <a:lnTo>
                  <a:pt x="620491" y="406642"/>
                </a:lnTo>
                <a:lnTo>
                  <a:pt x="0" y="40664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623150" y="3072619"/>
            <a:ext cx="368838" cy="374819"/>
          </a:xfrm>
          <a:custGeom>
            <a:avLst/>
            <a:gdLst/>
            <a:ahLst/>
            <a:cxnLst/>
            <a:rect l="l" t="t" r="r" b="b"/>
            <a:pathLst>
              <a:path w="368838" h="374819">
                <a:moveTo>
                  <a:pt x="0" y="0"/>
                </a:moveTo>
                <a:lnTo>
                  <a:pt x="368839" y="0"/>
                </a:lnTo>
                <a:lnTo>
                  <a:pt x="368839" y="374819"/>
                </a:lnTo>
                <a:lnTo>
                  <a:pt x="0" y="3748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780332" y="4903427"/>
            <a:ext cx="438623" cy="549343"/>
          </a:xfrm>
          <a:custGeom>
            <a:avLst/>
            <a:gdLst/>
            <a:ahLst/>
            <a:cxnLst/>
            <a:rect l="l" t="t" r="r" b="b"/>
            <a:pathLst>
              <a:path w="438623" h="549343">
                <a:moveTo>
                  <a:pt x="0" y="0"/>
                </a:moveTo>
                <a:lnTo>
                  <a:pt x="438623" y="0"/>
                </a:lnTo>
                <a:lnTo>
                  <a:pt x="438623" y="549344"/>
                </a:lnTo>
                <a:lnTo>
                  <a:pt x="0" y="54934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610875" y="6840522"/>
            <a:ext cx="379332" cy="499848"/>
          </a:xfrm>
          <a:custGeom>
            <a:avLst/>
            <a:gdLst/>
            <a:ahLst/>
            <a:cxnLst/>
            <a:rect l="l" t="t" r="r" b="b"/>
            <a:pathLst>
              <a:path w="379332" h="499848">
                <a:moveTo>
                  <a:pt x="0" y="0"/>
                </a:moveTo>
                <a:lnTo>
                  <a:pt x="379332" y="0"/>
                </a:lnTo>
                <a:lnTo>
                  <a:pt x="379332" y="499849"/>
                </a:lnTo>
                <a:lnTo>
                  <a:pt x="0" y="49984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53602" y="628650"/>
            <a:ext cx="12033998" cy="828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6"/>
              </a:lnSpc>
            </a:pPr>
            <a:r>
              <a:rPr lang="en-US" sz="5600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Công cụ Database &amp; CI/CD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53602" y="1636828"/>
            <a:ext cx="12033998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Tự động hóa build, test và triển khai – nền tảng kỹ thuật cho dự án nguồn mở đúng chuẩn</a:t>
            </a:r>
          </a:p>
        </p:txBody>
      </p:sp>
      <p:sp>
        <p:nvSpPr>
          <p:cNvPr id="4" name="Freeform 4"/>
          <p:cNvSpPr/>
          <p:nvPr/>
        </p:nvSpPr>
        <p:spPr>
          <a:xfrm rot="-600000">
            <a:off x="1306616" y="4249576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0" y="0"/>
                </a:moveTo>
                <a:lnTo>
                  <a:pt x="3494314" y="0"/>
                </a:lnTo>
                <a:lnTo>
                  <a:pt x="3494314" y="4285311"/>
                </a:lnTo>
                <a:lnTo>
                  <a:pt x="0" y="4285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 rot="-600000">
            <a:off x="1784618" y="5536444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SQLite</a:t>
            </a:r>
          </a:p>
        </p:txBody>
      </p:sp>
      <p:sp>
        <p:nvSpPr>
          <p:cNvPr id="6" name="TextBox 6"/>
          <p:cNvSpPr txBox="1"/>
          <p:nvPr/>
        </p:nvSpPr>
        <p:spPr>
          <a:xfrm rot="-600000">
            <a:off x="1960620" y="6271217"/>
            <a:ext cx="2501696" cy="82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Phù hợp khởi động nhanh, ít cấu hình, lý tưởng cho MVP và demo ban đầu</a:t>
            </a:r>
          </a:p>
        </p:txBody>
      </p:sp>
      <p:sp>
        <p:nvSpPr>
          <p:cNvPr id="7" name="Freeform 7"/>
          <p:cNvSpPr/>
          <p:nvPr/>
        </p:nvSpPr>
        <p:spPr>
          <a:xfrm rot="-299999">
            <a:off x="5336076" y="3505987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0" y="0"/>
                </a:moveTo>
                <a:lnTo>
                  <a:pt x="3494315" y="0"/>
                </a:lnTo>
                <a:lnTo>
                  <a:pt x="3494315" y="4285311"/>
                </a:lnTo>
                <a:lnTo>
                  <a:pt x="0" y="4285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 rot="-299999">
            <a:off x="5875785" y="4793950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PostgreSQL</a:t>
            </a:r>
          </a:p>
        </p:txBody>
      </p:sp>
      <p:sp>
        <p:nvSpPr>
          <p:cNvPr id="9" name="TextBox 9"/>
          <p:cNvSpPr txBox="1"/>
          <p:nvPr/>
        </p:nvSpPr>
        <p:spPr>
          <a:xfrm rot="-299999">
            <a:off x="5964122" y="5540264"/>
            <a:ext cx="2501696" cy="82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Hệ quản trị mạnh, phù hợp dữ liệu nghiệp vụ, phân quyền và mở rộng hệ thống</a:t>
            </a:r>
          </a:p>
        </p:txBody>
      </p:sp>
      <p:sp>
        <p:nvSpPr>
          <p:cNvPr id="10" name="Freeform 10"/>
          <p:cNvSpPr/>
          <p:nvPr/>
        </p:nvSpPr>
        <p:spPr>
          <a:xfrm rot="-299999">
            <a:off x="5723233" y="3809737"/>
            <a:ext cx="391711" cy="649691"/>
          </a:xfrm>
          <a:custGeom>
            <a:avLst/>
            <a:gdLst/>
            <a:ahLst/>
            <a:cxnLst/>
            <a:rect l="l" t="t" r="r" b="b"/>
            <a:pathLst>
              <a:path w="391711" h="649691">
                <a:moveTo>
                  <a:pt x="0" y="0"/>
                </a:moveTo>
                <a:lnTo>
                  <a:pt x="391711" y="0"/>
                </a:lnTo>
                <a:lnTo>
                  <a:pt x="391711" y="649690"/>
                </a:lnTo>
                <a:lnTo>
                  <a:pt x="0" y="649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299999" flipH="1">
            <a:off x="9457609" y="3505987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3494315" y="0"/>
                </a:moveTo>
                <a:lnTo>
                  <a:pt x="0" y="0"/>
                </a:lnTo>
                <a:lnTo>
                  <a:pt x="0" y="4285311"/>
                </a:lnTo>
                <a:lnTo>
                  <a:pt x="3494315" y="4285311"/>
                </a:lnTo>
                <a:lnTo>
                  <a:pt x="349431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 rot="299999">
            <a:off x="9929780" y="4795635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GitHub Actions</a:t>
            </a:r>
          </a:p>
        </p:txBody>
      </p:sp>
      <p:sp>
        <p:nvSpPr>
          <p:cNvPr id="13" name="TextBox 13"/>
          <p:cNvSpPr txBox="1"/>
          <p:nvPr/>
        </p:nvSpPr>
        <p:spPr>
          <a:xfrm rot="299999">
            <a:off x="9841442" y="5541949"/>
            <a:ext cx="2501696" cy="82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CI/CD tích hợp GitHub, dễ tạo workflow build/test/release tự động</a:t>
            </a:r>
          </a:p>
        </p:txBody>
      </p:sp>
      <p:sp>
        <p:nvSpPr>
          <p:cNvPr id="14" name="Freeform 14"/>
          <p:cNvSpPr/>
          <p:nvPr/>
        </p:nvSpPr>
        <p:spPr>
          <a:xfrm rot="299999">
            <a:off x="12155870" y="3929387"/>
            <a:ext cx="425503" cy="442346"/>
          </a:xfrm>
          <a:custGeom>
            <a:avLst/>
            <a:gdLst/>
            <a:ahLst/>
            <a:cxnLst/>
            <a:rect l="l" t="t" r="r" b="b"/>
            <a:pathLst>
              <a:path w="425503" h="442346">
                <a:moveTo>
                  <a:pt x="0" y="0"/>
                </a:moveTo>
                <a:lnTo>
                  <a:pt x="425503" y="0"/>
                </a:lnTo>
                <a:lnTo>
                  <a:pt x="425503" y="442346"/>
                </a:lnTo>
                <a:lnTo>
                  <a:pt x="0" y="4423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600000" flipH="1">
            <a:off x="13483892" y="4249576"/>
            <a:ext cx="3494315" cy="4285312"/>
          </a:xfrm>
          <a:custGeom>
            <a:avLst/>
            <a:gdLst/>
            <a:ahLst/>
            <a:cxnLst/>
            <a:rect l="l" t="t" r="r" b="b"/>
            <a:pathLst>
              <a:path w="3494315" h="4285312">
                <a:moveTo>
                  <a:pt x="3494314" y="0"/>
                </a:moveTo>
                <a:lnTo>
                  <a:pt x="0" y="0"/>
                </a:lnTo>
                <a:lnTo>
                  <a:pt x="0" y="4285311"/>
                </a:lnTo>
                <a:lnTo>
                  <a:pt x="3494314" y="4285311"/>
                </a:lnTo>
                <a:lnTo>
                  <a:pt x="349431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 rot="600000">
            <a:off x="14026351" y="5541353"/>
            <a:ext cx="250169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Docker Compose</a:t>
            </a:r>
          </a:p>
        </p:txBody>
      </p:sp>
      <p:sp>
        <p:nvSpPr>
          <p:cNvPr id="17" name="TextBox 17"/>
          <p:cNvSpPr txBox="1"/>
          <p:nvPr/>
        </p:nvSpPr>
        <p:spPr>
          <a:xfrm rot="600000">
            <a:off x="13850349" y="6276126"/>
            <a:ext cx="2501696" cy="82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Chạy toàn bộ hệ thống bằng một lệnh, hỗ trợ demo và build từ mã nguồn.</a:t>
            </a:r>
          </a:p>
        </p:txBody>
      </p:sp>
      <p:sp>
        <p:nvSpPr>
          <p:cNvPr id="18" name="Freeform 18"/>
          <p:cNvSpPr/>
          <p:nvPr/>
        </p:nvSpPr>
        <p:spPr>
          <a:xfrm rot="600000">
            <a:off x="16361600" y="4878346"/>
            <a:ext cx="294461" cy="294461"/>
          </a:xfrm>
          <a:custGeom>
            <a:avLst/>
            <a:gdLst/>
            <a:ahLst/>
            <a:cxnLst/>
            <a:rect l="l" t="t" r="r" b="b"/>
            <a:pathLst>
              <a:path w="294461" h="294461">
                <a:moveTo>
                  <a:pt x="0" y="0"/>
                </a:moveTo>
                <a:lnTo>
                  <a:pt x="294461" y="0"/>
                </a:lnTo>
                <a:lnTo>
                  <a:pt x="294461" y="294461"/>
                </a:lnTo>
                <a:lnTo>
                  <a:pt x="0" y="2944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600000">
            <a:off x="1589465" y="4750117"/>
            <a:ext cx="366336" cy="472243"/>
          </a:xfrm>
          <a:custGeom>
            <a:avLst/>
            <a:gdLst/>
            <a:ahLst/>
            <a:cxnLst/>
            <a:rect l="l" t="t" r="r" b="b"/>
            <a:pathLst>
              <a:path w="366336" h="472243">
                <a:moveTo>
                  <a:pt x="0" y="0"/>
                </a:moveTo>
                <a:lnTo>
                  <a:pt x="366336" y="0"/>
                </a:lnTo>
                <a:lnTo>
                  <a:pt x="366336" y="472244"/>
                </a:lnTo>
                <a:lnTo>
                  <a:pt x="0" y="47224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4041915" y="-3787681"/>
            <a:ext cx="5976931" cy="12841560"/>
          </a:xfrm>
          <a:custGeom>
            <a:avLst/>
            <a:gdLst/>
            <a:ahLst/>
            <a:cxnLst/>
            <a:rect l="l" t="t" r="r" b="b"/>
            <a:pathLst>
              <a:path w="5976931" h="12841560">
                <a:moveTo>
                  <a:pt x="0" y="12841560"/>
                </a:moveTo>
                <a:lnTo>
                  <a:pt x="5976931" y="12841560"/>
                </a:lnTo>
                <a:lnTo>
                  <a:pt x="5976931" y="0"/>
                </a:lnTo>
                <a:lnTo>
                  <a:pt x="0" y="0"/>
                </a:lnTo>
                <a:lnTo>
                  <a:pt x="0" y="128415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277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9692" y="6376897"/>
            <a:ext cx="2857500" cy="28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</a:pPr>
            <a:r>
              <a:rPr lang="en-US" sz="165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Markdown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9692" y="6865393"/>
            <a:ext cx="2857500" cy="54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Viết README đơn giản, chuẩn cho dự án nguồn mở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04669" y="5424397"/>
            <a:ext cx="2857500" cy="28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</a:pPr>
            <a:r>
              <a:rPr lang="en-US" sz="165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MkDocs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04669" y="5912893"/>
            <a:ext cx="2857500" cy="54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Tạo website tài liệu gọn gàng, dễ đọc và trình bày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89646" y="4471897"/>
            <a:ext cx="2857500" cy="28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</a:pPr>
            <a:r>
              <a:rPr lang="en-US" sz="165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GitHub Issues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9646" y="4960393"/>
            <a:ext cx="2857500" cy="54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Quản lý công việc, theo dõi lỗi và tiến độ dự án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74623" y="3519397"/>
            <a:ext cx="2857500" cy="28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</a:pPr>
            <a:r>
              <a:rPr lang="en-US" sz="165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GitLab Issues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4623" y="4007893"/>
            <a:ext cx="2857500" cy="54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Lựa chọn thay thế cho quản lý issue và theo dõi tiến độ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0" y="6459310"/>
            <a:ext cx="548640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32"/>
              </a:lnSpc>
            </a:pPr>
            <a:r>
              <a:rPr lang="en-US" sz="5200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Công cụ Tài liệu &amp; Quản lý Dự án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0" y="8866976"/>
            <a:ext cx="5067300" cy="28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Tài liệu chứng minh dự án có tổ chức và bền vững.</a:t>
            </a:r>
          </a:p>
        </p:txBody>
      </p:sp>
      <p:sp>
        <p:nvSpPr>
          <p:cNvPr id="13" name="Freeform 13"/>
          <p:cNvSpPr/>
          <p:nvPr/>
        </p:nvSpPr>
        <p:spPr>
          <a:xfrm>
            <a:off x="3335776" y="3820978"/>
            <a:ext cx="531157" cy="712497"/>
          </a:xfrm>
          <a:custGeom>
            <a:avLst/>
            <a:gdLst/>
            <a:ahLst/>
            <a:cxnLst/>
            <a:rect l="l" t="t" r="r" b="b"/>
            <a:pathLst>
              <a:path w="531157" h="712497">
                <a:moveTo>
                  <a:pt x="0" y="0"/>
                </a:moveTo>
                <a:lnTo>
                  <a:pt x="531157" y="0"/>
                </a:lnTo>
                <a:lnTo>
                  <a:pt x="531157" y="712497"/>
                </a:lnTo>
                <a:lnTo>
                  <a:pt x="0" y="7124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013019" y="2193525"/>
            <a:ext cx="593476" cy="593476"/>
          </a:xfrm>
          <a:custGeom>
            <a:avLst/>
            <a:gdLst/>
            <a:ahLst/>
            <a:cxnLst/>
            <a:rect l="l" t="t" r="r" b="b"/>
            <a:pathLst>
              <a:path w="593476" h="593476">
                <a:moveTo>
                  <a:pt x="0" y="0"/>
                </a:moveTo>
                <a:lnTo>
                  <a:pt x="593477" y="0"/>
                </a:lnTo>
                <a:lnTo>
                  <a:pt x="593477" y="593476"/>
                </a:lnTo>
                <a:lnTo>
                  <a:pt x="0" y="5934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885610" y="1043674"/>
            <a:ext cx="719470" cy="925033"/>
          </a:xfrm>
          <a:custGeom>
            <a:avLst/>
            <a:gdLst/>
            <a:ahLst/>
            <a:cxnLst/>
            <a:rect l="l" t="t" r="r" b="b"/>
            <a:pathLst>
              <a:path w="719470" h="925033">
                <a:moveTo>
                  <a:pt x="0" y="0"/>
                </a:moveTo>
                <a:lnTo>
                  <a:pt x="719471" y="0"/>
                </a:lnTo>
                <a:lnTo>
                  <a:pt x="719471" y="925033"/>
                </a:lnTo>
                <a:lnTo>
                  <a:pt x="0" y="9250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210892" y="2845382"/>
            <a:ext cx="608007" cy="734058"/>
          </a:xfrm>
          <a:custGeom>
            <a:avLst/>
            <a:gdLst/>
            <a:ahLst/>
            <a:cxnLst/>
            <a:rect l="l" t="t" r="r" b="b"/>
            <a:pathLst>
              <a:path w="608007" h="734058">
                <a:moveTo>
                  <a:pt x="0" y="0"/>
                </a:moveTo>
                <a:lnTo>
                  <a:pt x="608007" y="0"/>
                </a:lnTo>
                <a:lnTo>
                  <a:pt x="608007" y="734057"/>
                </a:lnTo>
                <a:lnTo>
                  <a:pt x="0" y="734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084983" y="4170706"/>
            <a:ext cx="4151058" cy="4143511"/>
          </a:xfrm>
          <a:custGeom>
            <a:avLst/>
            <a:gdLst/>
            <a:ahLst/>
            <a:cxnLst/>
            <a:rect l="l" t="t" r="r" b="b"/>
            <a:pathLst>
              <a:path w="4151058" h="4143511">
                <a:moveTo>
                  <a:pt x="0" y="0"/>
                </a:moveTo>
                <a:lnTo>
                  <a:pt x="4151058" y="0"/>
                </a:lnTo>
                <a:lnTo>
                  <a:pt x="4151058" y="4143511"/>
                </a:lnTo>
                <a:lnTo>
                  <a:pt x="0" y="4143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986024" y="2151110"/>
            <a:ext cx="8348976" cy="764059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86810" y="3524295"/>
            <a:ext cx="1465888" cy="109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Cổng</a:t>
            </a:r>
            <a:r>
              <a:rPr lang="en-US" sz="2098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20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Điều</a:t>
            </a:r>
            <a:r>
              <a:rPr lang="en-US" sz="2098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20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Hành</a:t>
            </a:r>
            <a:r>
              <a:rPr lang="en-US" sz="2098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20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Nhân</a:t>
            </a:r>
            <a:r>
              <a:rPr lang="en-US" sz="2098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20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Sự</a:t>
            </a:r>
            <a:endParaRPr lang="en-US" sz="2098" b="1" dirty="0">
              <a:solidFill>
                <a:srgbClr val="000000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524311" y="3524295"/>
            <a:ext cx="1613023" cy="109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37"/>
              </a:lnSpc>
            </a:pPr>
            <a:r>
              <a:rPr lang="en-US" sz="2098" b="1" dirty="0">
                <a:solidFill>
                  <a:srgbClr val="11111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Workflow </a:t>
            </a:r>
            <a:r>
              <a:rPr lang="en-US" sz="2098" b="1" dirty="0" err="1">
                <a:solidFill>
                  <a:srgbClr val="11111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Phê</a:t>
            </a:r>
            <a:r>
              <a:rPr lang="en-US" sz="2098" b="1" dirty="0">
                <a:solidFill>
                  <a:srgbClr val="11111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2098" b="1" dirty="0" err="1">
                <a:solidFill>
                  <a:srgbClr val="11111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Duyệt</a:t>
            </a:r>
            <a:r>
              <a:rPr lang="en-US" sz="2098" b="1" dirty="0">
                <a:solidFill>
                  <a:srgbClr val="11111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2098" b="1" dirty="0" err="1">
                <a:solidFill>
                  <a:srgbClr val="11111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Đa</a:t>
            </a:r>
            <a:r>
              <a:rPr lang="en-US" sz="2098" b="1" dirty="0">
                <a:solidFill>
                  <a:srgbClr val="11111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2098" b="1" dirty="0" err="1">
                <a:solidFill>
                  <a:srgbClr val="11111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Cấp</a:t>
            </a:r>
            <a:endParaRPr lang="en-US" sz="2098" b="1" dirty="0">
              <a:solidFill>
                <a:srgbClr val="111111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86810" y="7337174"/>
            <a:ext cx="1465888" cy="71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Quản Lý Tài Nguyên Số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71447" y="7151436"/>
            <a:ext cx="1465888" cy="108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Quản Lý Tác Vụ Liên Phòng Ban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5208" y="5616472"/>
            <a:ext cx="1465888" cy="72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Dashboard </a:t>
            </a:r>
            <a:r>
              <a:rPr lang="en-US" sz="20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Vận</a:t>
            </a:r>
            <a:r>
              <a:rPr lang="en-US" sz="2098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20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Hành</a:t>
            </a:r>
            <a:endParaRPr lang="en-US" sz="2098" b="1" dirty="0">
              <a:solidFill>
                <a:srgbClr val="000000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133651" y="5430734"/>
            <a:ext cx="1570985" cy="109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37"/>
              </a:lnSpc>
            </a:pPr>
            <a:r>
              <a:rPr lang="en-US" sz="20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Cổng</a:t>
            </a:r>
            <a:r>
              <a:rPr lang="en-US" sz="2098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Self-Service </a:t>
            </a:r>
            <a:r>
              <a:rPr lang="en-US" sz="20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Nhân</a:t>
            </a:r>
            <a:r>
              <a:rPr lang="en-US" sz="2098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</a:t>
            </a:r>
            <a:r>
              <a:rPr lang="en-US" sz="2098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Viên</a:t>
            </a:r>
            <a:endParaRPr lang="en-US" sz="2098" b="1" dirty="0">
              <a:solidFill>
                <a:srgbClr val="000000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6898" y="5714370"/>
            <a:ext cx="2333625" cy="54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9"/>
              </a:lnSpc>
            </a:pPr>
            <a:r>
              <a:rPr lang="en-US" sz="1557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Trực quan, dễ trình bày KPI và chỉ số.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49525" y="5714370"/>
            <a:ext cx="2333625" cy="54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79"/>
              </a:lnSpc>
            </a:pPr>
            <a:r>
              <a:rPr lang="en-US" sz="1557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Tính thực tế cao, nhân viên tự phục vụ.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6833" y="7620809"/>
            <a:ext cx="2333625" cy="54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9"/>
              </a:lnSpc>
            </a:pPr>
            <a:r>
              <a:rPr lang="en-US" sz="1557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Phù hợp môi trường chuyển đổi số nội bộ.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66422" y="7620809"/>
            <a:ext cx="2333625" cy="54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79"/>
              </a:lnSpc>
            </a:pPr>
            <a:r>
              <a:rPr lang="en-US" sz="1557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Rõ quy trình, dễ xây dựng MVP và demo.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6833" y="3807930"/>
            <a:ext cx="2333625" cy="54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9"/>
              </a:lnSpc>
            </a:pPr>
            <a:r>
              <a:rPr lang="en-US" sz="1557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Dễ hiểu, sát thực tế doanh nghiệp, dễ demo.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66422" y="3807930"/>
            <a:ext cx="2333625" cy="54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79"/>
              </a:lnSpc>
            </a:pPr>
            <a:r>
              <a:rPr lang="en-US" sz="1557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Luồng rõ ràng, đúng chất vận hành số.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53602" y="628650"/>
            <a:ext cx="12033998" cy="828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1"/>
              </a:lnSpc>
            </a:pPr>
            <a:r>
              <a:rPr lang="en-US" sz="5596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Danh sách ý tưởng 1–6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53602" y="1627303"/>
            <a:ext cx="12033998" cy="34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0"/>
              </a:lnSpc>
            </a:pP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Nhóm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ý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tưởng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dễ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triển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khai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,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luồng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nghiệp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vụ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rõ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ràng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,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phù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hợp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demo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nhanh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trong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cuộc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2043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thi</a:t>
            </a:r>
            <a:r>
              <a:rPr lang="en-US" sz="2043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DX-OS.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181784" y="3238500"/>
            <a:ext cx="5960576" cy="546581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95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7761314" y="4533900"/>
            <a:ext cx="2830486" cy="2909678"/>
          </a:xfrm>
          <a:custGeom>
            <a:avLst/>
            <a:gdLst/>
            <a:ahLst/>
            <a:cxnLst/>
            <a:rect l="l" t="t" r="r" b="b"/>
            <a:pathLst>
              <a:path w="921574" h="885076">
                <a:moveTo>
                  <a:pt x="0" y="0"/>
                </a:moveTo>
                <a:lnTo>
                  <a:pt x="921574" y="0"/>
                </a:lnTo>
                <a:lnTo>
                  <a:pt x="921574" y="885076"/>
                </a:lnTo>
                <a:lnTo>
                  <a:pt x="0" y="885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5938397" y="3770538"/>
            <a:ext cx="516450" cy="568529"/>
          </a:xfrm>
          <a:custGeom>
            <a:avLst/>
            <a:gdLst/>
            <a:ahLst/>
            <a:cxnLst/>
            <a:rect l="l" t="t" r="r" b="b"/>
            <a:pathLst>
              <a:path w="516450" h="568529">
                <a:moveTo>
                  <a:pt x="0" y="0"/>
                </a:moveTo>
                <a:lnTo>
                  <a:pt x="516450" y="0"/>
                </a:lnTo>
                <a:lnTo>
                  <a:pt x="516450" y="568529"/>
                </a:lnTo>
                <a:lnTo>
                  <a:pt x="0" y="568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826211" y="3886502"/>
            <a:ext cx="576710" cy="438078"/>
          </a:xfrm>
          <a:custGeom>
            <a:avLst/>
            <a:gdLst/>
            <a:ahLst/>
            <a:cxnLst/>
            <a:rect l="l" t="t" r="r" b="b"/>
            <a:pathLst>
              <a:path w="576710" h="438078">
                <a:moveTo>
                  <a:pt x="0" y="0"/>
                </a:moveTo>
                <a:lnTo>
                  <a:pt x="576710" y="0"/>
                </a:lnTo>
                <a:lnTo>
                  <a:pt x="576710" y="438078"/>
                </a:lnTo>
                <a:lnTo>
                  <a:pt x="0" y="438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809451" y="7607275"/>
            <a:ext cx="723743" cy="574200"/>
          </a:xfrm>
          <a:custGeom>
            <a:avLst/>
            <a:gdLst/>
            <a:ahLst/>
            <a:cxnLst/>
            <a:rect l="l" t="t" r="r" b="b"/>
            <a:pathLst>
              <a:path w="723743" h="574200">
                <a:moveTo>
                  <a:pt x="0" y="0"/>
                </a:moveTo>
                <a:lnTo>
                  <a:pt x="723743" y="0"/>
                </a:lnTo>
                <a:lnTo>
                  <a:pt x="723743" y="574200"/>
                </a:lnTo>
                <a:lnTo>
                  <a:pt x="0" y="574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318353" y="5672999"/>
            <a:ext cx="674751" cy="574540"/>
          </a:xfrm>
          <a:custGeom>
            <a:avLst/>
            <a:gdLst/>
            <a:ahLst/>
            <a:cxnLst/>
            <a:rect l="l" t="t" r="r" b="b"/>
            <a:pathLst>
              <a:path w="674751" h="574540">
                <a:moveTo>
                  <a:pt x="0" y="0"/>
                </a:moveTo>
                <a:lnTo>
                  <a:pt x="674751" y="0"/>
                </a:lnTo>
                <a:lnTo>
                  <a:pt x="674751" y="574541"/>
                </a:lnTo>
                <a:lnTo>
                  <a:pt x="0" y="5745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861098" y="7652231"/>
            <a:ext cx="695345" cy="486242"/>
          </a:xfrm>
          <a:custGeom>
            <a:avLst/>
            <a:gdLst/>
            <a:ahLst/>
            <a:cxnLst/>
            <a:rect l="l" t="t" r="r" b="b"/>
            <a:pathLst>
              <a:path w="695345" h="486242">
                <a:moveTo>
                  <a:pt x="0" y="0"/>
                </a:moveTo>
                <a:lnTo>
                  <a:pt x="695345" y="0"/>
                </a:lnTo>
                <a:lnTo>
                  <a:pt x="695345" y="486242"/>
                </a:lnTo>
                <a:lnTo>
                  <a:pt x="0" y="4862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231889" y="5666451"/>
            <a:ext cx="576710" cy="614231"/>
          </a:xfrm>
          <a:custGeom>
            <a:avLst/>
            <a:gdLst/>
            <a:ahLst/>
            <a:cxnLst/>
            <a:rect l="l" t="t" r="r" b="b"/>
            <a:pathLst>
              <a:path w="576710" h="614231">
                <a:moveTo>
                  <a:pt x="0" y="0"/>
                </a:moveTo>
                <a:lnTo>
                  <a:pt x="576710" y="0"/>
                </a:lnTo>
                <a:lnTo>
                  <a:pt x="576710" y="614231"/>
                </a:lnTo>
                <a:lnTo>
                  <a:pt x="0" y="6142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00400" y="3406500"/>
            <a:ext cx="11887200" cy="5185791"/>
          </a:xfrm>
          <a:custGeom>
            <a:avLst/>
            <a:gdLst/>
            <a:ahLst/>
            <a:cxnLst/>
            <a:rect l="l" t="t" r="r" b="b"/>
            <a:pathLst>
              <a:path w="11887200" h="5185791">
                <a:moveTo>
                  <a:pt x="0" y="0"/>
                </a:moveTo>
                <a:lnTo>
                  <a:pt x="11887200" y="0"/>
                </a:lnTo>
                <a:lnTo>
                  <a:pt x="11887200" y="5185791"/>
                </a:lnTo>
                <a:lnTo>
                  <a:pt x="0" y="51857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84983" y="4170706"/>
            <a:ext cx="4151058" cy="4143511"/>
          </a:xfrm>
          <a:custGeom>
            <a:avLst/>
            <a:gdLst/>
            <a:ahLst/>
            <a:cxnLst/>
            <a:rect l="l" t="t" r="r" b="b"/>
            <a:pathLst>
              <a:path w="4151058" h="4143511">
                <a:moveTo>
                  <a:pt x="0" y="0"/>
                </a:moveTo>
                <a:lnTo>
                  <a:pt x="4151058" y="0"/>
                </a:lnTo>
                <a:lnTo>
                  <a:pt x="4151058" y="4143511"/>
                </a:lnTo>
                <a:lnTo>
                  <a:pt x="0" y="4143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435871" y="4246764"/>
            <a:ext cx="3449281" cy="344928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86810" y="3817213"/>
            <a:ext cx="1465888" cy="25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 b="1">
                <a:solidFill>
                  <a:srgbClr val="FFFFFF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Quản lý Tri thức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24311" y="3817213"/>
            <a:ext cx="1613023" cy="53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53"/>
              </a:lnSpc>
            </a:pPr>
            <a:r>
              <a:rPr lang="en-US" sz="1537" b="1">
                <a:solidFill>
                  <a:srgbClr val="FFFFFF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Trung tâm Thông báo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86810" y="7630092"/>
            <a:ext cx="1465888" cy="53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Digital Workplace Hub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71447" y="7630092"/>
            <a:ext cx="1465888" cy="53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53"/>
              </a:lnSpc>
            </a:pPr>
            <a:r>
              <a:rPr lang="en-US" sz="1537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Trợ lý AI Điều phối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5208" y="5723652"/>
            <a:ext cx="1465888" cy="25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3"/>
              </a:lnSpc>
            </a:pPr>
            <a:r>
              <a:rPr lang="en-US" sz="1537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Tích hợp Dữ liệu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33651" y="5857002"/>
            <a:ext cx="1570985" cy="25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53"/>
              </a:lnSpc>
            </a:pPr>
            <a:r>
              <a:rPr lang="en-US" sz="1537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Hệ thống Đo KPI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898" y="5590226"/>
            <a:ext cx="2333625" cy="7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4"/>
              </a:lnSpc>
            </a:pPr>
            <a:r>
              <a:rPr lang="en-US" sz="153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Tổng hợp dữ liệu và báo cáo nội bộ. Phù hợp dashboard và KPI.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49525" y="5590226"/>
            <a:ext cx="2333625" cy="7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44"/>
              </a:lnSpc>
            </a:pPr>
            <a:r>
              <a:rPr lang="en-US" sz="153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Theo dõi và đo lường KPI vận hành. Có tính quản lý rõ ràng.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6833" y="7496665"/>
            <a:ext cx="2333625" cy="7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4"/>
              </a:lnSpc>
            </a:pPr>
            <a:r>
              <a:rPr lang="en-US" sz="153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Không gian làm việc số tích hợp. Bao quát tốt, cần chốt scope rõ.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66422" y="7496665"/>
            <a:ext cx="2333625" cy="7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44"/>
              </a:lnSpc>
            </a:pPr>
            <a:r>
              <a:rPr lang="en-US" sz="153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AI hỗ trợ phân công và điều phối. Tính sáng tạo cao, nên làm phụ.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6833" y="3683786"/>
            <a:ext cx="2333625" cy="7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4"/>
              </a:lnSpc>
            </a:pPr>
            <a:r>
              <a:rPr lang="en-US" sz="153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Lưu trữ và chia sẻ tri thức nội bộ. Có giá trị lâu dài cho doanh nghiệp.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66422" y="3683786"/>
            <a:ext cx="2333625" cy="7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44"/>
              </a:lnSpc>
            </a:pPr>
            <a:r>
              <a:rPr lang="en-US" sz="153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Điều phối thông báo đa kênh. Dễ làm và dễ demo trong cuộc thi.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53602" y="628650"/>
            <a:ext cx="12033998" cy="828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1"/>
              </a:lnSpc>
            </a:pPr>
            <a:r>
              <a:rPr lang="en-US" sz="5596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Danh sách ý tưởng 7–12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53602" y="1627303"/>
            <a:ext cx="12033998" cy="7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4"/>
              </a:lnSpc>
            </a:pPr>
            <a:r>
              <a:rPr lang="en-US" sz="201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Nhóm ý tưởng nâng cao – phù hợp nhóm có năng lực mạnh, kết hợp hệ thống nguồn mở để tăng chất lượng sản phẩm.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999417" y="4808750"/>
            <a:ext cx="2325310" cy="232531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95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8701490" y="5549396"/>
            <a:ext cx="921164" cy="844017"/>
          </a:xfrm>
          <a:custGeom>
            <a:avLst/>
            <a:gdLst/>
            <a:ahLst/>
            <a:cxnLst/>
            <a:rect l="l" t="t" r="r" b="b"/>
            <a:pathLst>
              <a:path w="921164" h="844017">
                <a:moveTo>
                  <a:pt x="0" y="0"/>
                </a:moveTo>
                <a:lnTo>
                  <a:pt x="921164" y="0"/>
                </a:lnTo>
                <a:lnTo>
                  <a:pt x="921164" y="844017"/>
                </a:lnTo>
                <a:lnTo>
                  <a:pt x="0" y="844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5885593" y="3816421"/>
            <a:ext cx="625461" cy="515344"/>
          </a:xfrm>
          <a:custGeom>
            <a:avLst/>
            <a:gdLst/>
            <a:ahLst/>
            <a:cxnLst/>
            <a:rect l="l" t="t" r="r" b="b"/>
            <a:pathLst>
              <a:path w="625461" h="515344">
                <a:moveTo>
                  <a:pt x="0" y="0"/>
                </a:moveTo>
                <a:lnTo>
                  <a:pt x="625460" y="0"/>
                </a:lnTo>
                <a:lnTo>
                  <a:pt x="625460" y="515344"/>
                </a:lnTo>
                <a:lnTo>
                  <a:pt x="0" y="5153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779279" y="3863878"/>
            <a:ext cx="674751" cy="575257"/>
          </a:xfrm>
          <a:custGeom>
            <a:avLst/>
            <a:gdLst/>
            <a:ahLst/>
            <a:cxnLst/>
            <a:rect l="l" t="t" r="r" b="b"/>
            <a:pathLst>
              <a:path w="674751" h="575257">
                <a:moveTo>
                  <a:pt x="0" y="0"/>
                </a:moveTo>
                <a:lnTo>
                  <a:pt x="674751" y="0"/>
                </a:lnTo>
                <a:lnTo>
                  <a:pt x="674751" y="575257"/>
                </a:lnTo>
                <a:lnTo>
                  <a:pt x="0" y="5752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897297" y="7538805"/>
            <a:ext cx="576710" cy="732881"/>
          </a:xfrm>
          <a:custGeom>
            <a:avLst/>
            <a:gdLst/>
            <a:ahLst/>
            <a:cxnLst/>
            <a:rect l="l" t="t" r="r" b="b"/>
            <a:pathLst>
              <a:path w="576710" h="732881">
                <a:moveTo>
                  <a:pt x="0" y="0"/>
                </a:moveTo>
                <a:lnTo>
                  <a:pt x="576710" y="0"/>
                </a:lnTo>
                <a:lnTo>
                  <a:pt x="576710" y="732881"/>
                </a:lnTo>
                <a:lnTo>
                  <a:pt x="0" y="7328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206410" y="5567679"/>
            <a:ext cx="772792" cy="577471"/>
          </a:xfrm>
          <a:custGeom>
            <a:avLst/>
            <a:gdLst/>
            <a:ahLst/>
            <a:cxnLst/>
            <a:rect l="l" t="t" r="r" b="b"/>
            <a:pathLst>
              <a:path w="772792" h="577471">
                <a:moveTo>
                  <a:pt x="0" y="0"/>
                </a:moveTo>
                <a:lnTo>
                  <a:pt x="772792" y="0"/>
                </a:lnTo>
                <a:lnTo>
                  <a:pt x="772792" y="577471"/>
                </a:lnTo>
                <a:lnTo>
                  <a:pt x="0" y="5774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900911" y="7631716"/>
            <a:ext cx="606419" cy="581053"/>
          </a:xfrm>
          <a:custGeom>
            <a:avLst/>
            <a:gdLst/>
            <a:ahLst/>
            <a:cxnLst/>
            <a:rect l="l" t="t" r="r" b="b"/>
            <a:pathLst>
              <a:path w="606419" h="581053">
                <a:moveTo>
                  <a:pt x="0" y="0"/>
                </a:moveTo>
                <a:lnTo>
                  <a:pt x="606419" y="0"/>
                </a:lnTo>
                <a:lnTo>
                  <a:pt x="606419" y="581052"/>
                </a:lnTo>
                <a:lnTo>
                  <a:pt x="0" y="5810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189550" y="5728073"/>
            <a:ext cx="659532" cy="557667"/>
          </a:xfrm>
          <a:custGeom>
            <a:avLst/>
            <a:gdLst/>
            <a:ahLst/>
            <a:cxnLst/>
            <a:rect l="l" t="t" r="r" b="b"/>
            <a:pathLst>
              <a:path w="659532" h="557667">
                <a:moveTo>
                  <a:pt x="0" y="0"/>
                </a:moveTo>
                <a:lnTo>
                  <a:pt x="659532" y="0"/>
                </a:lnTo>
                <a:lnTo>
                  <a:pt x="659532" y="557667"/>
                </a:lnTo>
                <a:lnTo>
                  <a:pt x="0" y="5576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4041915" y="-3787681"/>
            <a:ext cx="5976931" cy="12841560"/>
          </a:xfrm>
          <a:custGeom>
            <a:avLst/>
            <a:gdLst/>
            <a:ahLst/>
            <a:cxnLst/>
            <a:rect l="l" t="t" r="r" b="b"/>
            <a:pathLst>
              <a:path w="5976931" h="12841560">
                <a:moveTo>
                  <a:pt x="0" y="12841560"/>
                </a:moveTo>
                <a:lnTo>
                  <a:pt x="5976931" y="12841560"/>
                </a:lnTo>
                <a:lnTo>
                  <a:pt x="5976931" y="0"/>
                </a:lnTo>
                <a:lnTo>
                  <a:pt x="0" y="0"/>
                </a:lnTo>
                <a:lnTo>
                  <a:pt x="0" y="128415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277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9692" y="6367372"/>
            <a:ext cx="2857500" cy="32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4"/>
              </a:lnSpc>
            </a:pPr>
            <a:r>
              <a:rPr lang="en-US" sz="201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1 Vấn Đề Cụ Thể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9692" y="6865393"/>
            <a:ext cx="2857500" cy="54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Nhân viên gửi yêu cầu rời rạc, không có luồng xử lý thống nhất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04669" y="5414872"/>
            <a:ext cx="2857500" cy="32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4"/>
              </a:lnSpc>
            </a:pPr>
            <a:r>
              <a:rPr lang="en-US" sz="201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1 Luồng Xử Lý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04669" y="5912893"/>
            <a:ext cx="2857500" cy="54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Tạo yêu cầu → Duyệt → Phản hồi theo quy trình rõ ràng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89646" y="4462372"/>
            <a:ext cx="2857500" cy="32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4"/>
              </a:lnSpc>
            </a:pPr>
            <a:r>
              <a:rPr lang="en-US" sz="201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1 Điểm Sáng Tạo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9646" y="4960393"/>
            <a:ext cx="2857500" cy="54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Dashboard theo dõi tiến độ theo từng phòng ban trực quan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74623" y="3509872"/>
            <a:ext cx="2857500" cy="32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4"/>
              </a:lnSpc>
            </a:pPr>
            <a:r>
              <a:rPr lang="en-US" sz="2010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1 Demo Rõ Ràng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4623" y="4007893"/>
            <a:ext cx="2857500" cy="54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MVP có thể trình diễn đầy đủ luồng chính trong cuộc thi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0" y="6459310"/>
            <a:ext cx="548640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32"/>
              </a:lnSpc>
            </a:pPr>
            <a:r>
              <a:rPr lang="en-US" sz="5200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Công Thức Chọn Ý Tưởng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0" y="8857451"/>
            <a:ext cx="5067300" cy="32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4"/>
              </a:lnSpc>
            </a:pPr>
            <a:r>
              <a:rPr lang="en-US" sz="201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4 bước để có ý tưởng DX-OS đúng hướng.</a:t>
            </a:r>
          </a:p>
        </p:txBody>
      </p:sp>
      <p:sp>
        <p:nvSpPr>
          <p:cNvPr id="13" name="Freeform 13"/>
          <p:cNvSpPr/>
          <p:nvPr/>
        </p:nvSpPr>
        <p:spPr>
          <a:xfrm>
            <a:off x="3326853" y="3315108"/>
            <a:ext cx="538431" cy="1827833"/>
          </a:xfrm>
          <a:custGeom>
            <a:avLst/>
            <a:gdLst/>
            <a:ahLst/>
            <a:cxnLst/>
            <a:rect l="l" t="t" r="r" b="b"/>
            <a:pathLst>
              <a:path w="538431" h="1827833">
                <a:moveTo>
                  <a:pt x="0" y="0"/>
                </a:moveTo>
                <a:lnTo>
                  <a:pt x="538431" y="0"/>
                </a:lnTo>
                <a:lnTo>
                  <a:pt x="538431" y="1827833"/>
                </a:lnTo>
                <a:lnTo>
                  <a:pt x="0" y="1827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945593" y="2102939"/>
            <a:ext cx="728588" cy="731406"/>
          </a:xfrm>
          <a:custGeom>
            <a:avLst/>
            <a:gdLst/>
            <a:ahLst/>
            <a:cxnLst/>
            <a:rect l="l" t="t" r="r" b="b"/>
            <a:pathLst>
              <a:path w="728588" h="731406">
                <a:moveTo>
                  <a:pt x="0" y="0"/>
                </a:moveTo>
                <a:lnTo>
                  <a:pt x="728588" y="0"/>
                </a:lnTo>
                <a:lnTo>
                  <a:pt x="728588" y="731406"/>
                </a:lnTo>
                <a:lnTo>
                  <a:pt x="0" y="731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869423" y="1270809"/>
            <a:ext cx="755708" cy="696584"/>
          </a:xfrm>
          <a:custGeom>
            <a:avLst/>
            <a:gdLst/>
            <a:ahLst/>
            <a:cxnLst/>
            <a:rect l="l" t="t" r="r" b="b"/>
            <a:pathLst>
              <a:path w="755708" h="696584">
                <a:moveTo>
                  <a:pt x="0" y="0"/>
                </a:moveTo>
                <a:lnTo>
                  <a:pt x="755708" y="0"/>
                </a:lnTo>
                <a:lnTo>
                  <a:pt x="755708" y="696585"/>
                </a:lnTo>
                <a:lnTo>
                  <a:pt x="0" y="6965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914031" y="2870617"/>
            <a:ext cx="1144712" cy="669092"/>
          </a:xfrm>
          <a:custGeom>
            <a:avLst/>
            <a:gdLst/>
            <a:ahLst/>
            <a:cxnLst/>
            <a:rect l="l" t="t" r="r" b="b"/>
            <a:pathLst>
              <a:path w="1144712" h="669092">
                <a:moveTo>
                  <a:pt x="0" y="0"/>
                </a:moveTo>
                <a:lnTo>
                  <a:pt x="1144712" y="0"/>
                </a:lnTo>
                <a:lnTo>
                  <a:pt x="1144712" y="669092"/>
                </a:lnTo>
                <a:lnTo>
                  <a:pt x="0" y="6690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52600" y="4485906"/>
            <a:ext cx="14782800" cy="3011995"/>
          </a:xfrm>
          <a:custGeom>
            <a:avLst/>
            <a:gdLst/>
            <a:ahLst/>
            <a:cxnLst/>
            <a:rect l="l" t="t" r="r" b="b"/>
            <a:pathLst>
              <a:path w="14782800" h="3011995">
                <a:moveTo>
                  <a:pt x="0" y="0"/>
                </a:moveTo>
                <a:lnTo>
                  <a:pt x="14782800" y="0"/>
                </a:lnTo>
                <a:lnTo>
                  <a:pt x="14782800" y="3011995"/>
                </a:lnTo>
                <a:lnTo>
                  <a:pt x="0" y="3011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41656" y="7469326"/>
            <a:ext cx="320040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Hiểu cuộc thi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67600" y="7469326"/>
            <a:ext cx="327660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Tiêu chí chấm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35603" y="7469326"/>
            <a:ext cx="3208744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Sẵn sàng rồi!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31637" y="3258182"/>
            <a:ext cx="312420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Hiểu DX-OS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33781" y="3258182"/>
            <a:ext cx="312420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Danh sách ý tưởng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1656" y="7880441"/>
            <a:ext cx="3200400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Nắm được yêu cầu PMNM – OLP 2026, hình thức thi và tiêu chuẩn nguồn mở đúng chuẩn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7600" y="7880441"/>
            <a:ext cx="3276600" cy="54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Nắm rõ PoF, tiêu chí chấm sản phẩm và các yêu cầu kỹ thuật cần đáp ứng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35603" y="7880441"/>
            <a:ext cx="3208744" cy="54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Buổi sau sẽ làm việc riêng từng nhóm – mỗi nhóm trình bày ý tưởng sơ bộ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31637" y="3669296"/>
            <a:ext cx="3124200" cy="54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Hiểu DX-OS là nền tảng điều hành số, không phải hệ điều hành kernel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33781" y="3669296"/>
            <a:ext cx="3124200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Có danh sách 12 ý tưởng gợi ý và công thức chọn phạm vi đúng cho nhóm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53602" y="628650"/>
            <a:ext cx="12033998" cy="828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1"/>
              </a:lnSpc>
            </a:pPr>
            <a:r>
              <a:rPr lang="en-US" sz="5596" b="1">
                <a:solidFill>
                  <a:srgbClr val="140574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Chốt Buổi Học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53602" y="1636828"/>
            <a:ext cx="12033998" cy="3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Những điều bạn đã đạt được hôm nay – sẵn sàng cho buổi làm việc nhóm tiếp theo</a:t>
            </a:r>
          </a:p>
        </p:txBody>
      </p:sp>
      <p:sp>
        <p:nvSpPr>
          <p:cNvPr id="15" name="Freeform 15"/>
          <p:cNvSpPr/>
          <p:nvPr/>
        </p:nvSpPr>
        <p:spPr>
          <a:xfrm>
            <a:off x="2433100" y="5213193"/>
            <a:ext cx="1617511" cy="1614570"/>
          </a:xfrm>
          <a:custGeom>
            <a:avLst/>
            <a:gdLst/>
            <a:ahLst/>
            <a:cxnLst/>
            <a:rect l="l" t="t" r="r" b="b"/>
            <a:pathLst>
              <a:path w="1617511" h="1614570">
                <a:moveTo>
                  <a:pt x="0" y="0"/>
                </a:moveTo>
                <a:lnTo>
                  <a:pt x="1617512" y="0"/>
                </a:lnTo>
                <a:lnTo>
                  <a:pt x="1617512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384981" y="5213193"/>
            <a:ext cx="1617511" cy="1614570"/>
          </a:xfrm>
          <a:custGeom>
            <a:avLst/>
            <a:gdLst/>
            <a:ahLst/>
            <a:cxnLst/>
            <a:rect l="l" t="t" r="r" b="b"/>
            <a:pathLst>
              <a:path w="1617511" h="1614570">
                <a:moveTo>
                  <a:pt x="0" y="0"/>
                </a:moveTo>
                <a:lnTo>
                  <a:pt x="1617511" y="0"/>
                </a:lnTo>
                <a:lnTo>
                  <a:pt x="1617511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335244" y="5213193"/>
            <a:ext cx="1617511" cy="1614570"/>
          </a:xfrm>
          <a:custGeom>
            <a:avLst/>
            <a:gdLst/>
            <a:ahLst/>
            <a:cxnLst/>
            <a:rect l="l" t="t" r="r" b="b"/>
            <a:pathLst>
              <a:path w="1617511" h="1614570">
                <a:moveTo>
                  <a:pt x="0" y="0"/>
                </a:moveTo>
                <a:lnTo>
                  <a:pt x="1617512" y="0"/>
                </a:lnTo>
                <a:lnTo>
                  <a:pt x="1617512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287125" y="5213193"/>
            <a:ext cx="1617511" cy="1614570"/>
          </a:xfrm>
          <a:custGeom>
            <a:avLst/>
            <a:gdLst/>
            <a:ahLst/>
            <a:cxnLst/>
            <a:rect l="l" t="t" r="r" b="b"/>
            <a:pathLst>
              <a:path w="1617511" h="1614570">
                <a:moveTo>
                  <a:pt x="0" y="0"/>
                </a:moveTo>
                <a:lnTo>
                  <a:pt x="1617511" y="0"/>
                </a:lnTo>
                <a:lnTo>
                  <a:pt x="1617511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231219" y="5213193"/>
            <a:ext cx="1617511" cy="1614570"/>
          </a:xfrm>
          <a:custGeom>
            <a:avLst/>
            <a:gdLst/>
            <a:ahLst/>
            <a:cxnLst/>
            <a:rect l="l" t="t" r="r" b="b"/>
            <a:pathLst>
              <a:path w="1617511" h="1614570">
                <a:moveTo>
                  <a:pt x="0" y="0"/>
                </a:moveTo>
                <a:lnTo>
                  <a:pt x="1617512" y="0"/>
                </a:lnTo>
                <a:lnTo>
                  <a:pt x="1617512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2569828" y="5242830"/>
            <a:ext cx="1344055" cy="134405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1709" y="5242830"/>
            <a:ext cx="1344055" cy="134405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71972" y="5242830"/>
            <a:ext cx="1344055" cy="134405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23853" y="5242830"/>
            <a:ext cx="1344055" cy="134405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367947" y="5242830"/>
            <a:ext cx="1344055" cy="134405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Freeform 35"/>
          <p:cNvSpPr/>
          <p:nvPr/>
        </p:nvSpPr>
        <p:spPr>
          <a:xfrm>
            <a:off x="8800573" y="5506984"/>
            <a:ext cx="683198" cy="863486"/>
          </a:xfrm>
          <a:custGeom>
            <a:avLst/>
            <a:gdLst/>
            <a:ahLst/>
            <a:cxnLst/>
            <a:rect l="l" t="t" r="r" b="b"/>
            <a:pathLst>
              <a:path w="683198" h="863486">
                <a:moveTo>
                  <a:pt x="0" y="0"/>
                </a:moveTo>
                <a:lnTo>
                  <a:pt x="683198" y="0"/>
                </a:lnTo>
                <a:lnTo>
                  <a:pt x="683198" y="863486"/>
                </a:lnTo>
                <a:lnTo>
                  <a:pt x="0" y="863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547492" y="5520986"/>
            <a:ext cx="1291744" cy="724826"/>
          </a:xfrm>
          <a:custGeom>
            <a:avLst/>
            <a:gdLst/>
            <a:ahLst/>
            <a:cxnLst/>
            <a:rect l="l" t="t" r="r" b="b"/>
            <a:pathLst>
              <a:path w="1291744" h="724826">
                <a:moveTo>
                  <a:pt x="0" y="0"/>
                </a:moveTo>
                <a:lnTo>
                  <a:pt x="1291744" y="0"/>
                </a:lnTo>
                <a:lnTo>
                  <a:pt x="1291744" y="724826"/>
                </a:lnTo>
                <a:lnTo>
                  <a:pt x="0" y="7248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777228" y="5450417"/>
            <a:ext cx="801792" cy="772727"/>
          </a:xfrm>
          <a:custGeom>
            <a:avLst/>
            <a:gdLst/>
            <a:ahLst/>
            <a:cxnLst/>
            <a:rect l="l" t="t" r="r" b="b"/>
            <a:pathLst>
              <a:path w="801792" h="772727">
                <a:moveTo>
                  <a:pt x="0" y="0"/>
                </a:moveTo>
                <a:lnTo>
                  <a:pt x="801792" y="0"/>
                </a:lnTo>
                <a:lnTo>
                  <a:pt x="801792" y="772727"/>
                </a:lnTo>
                <a:lnTo>
                  <a:pt x="0" y="772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1721661" y="5530629"/>
            <a:ext cx="770954" cy="793775"/>
          </a:xfrm>
          <a:custGeom>
            <a:avLst/>
            <a:gdLst/>
            <a:ahLst/>
            <a:cxnLst/>
            <a:rect l="l" t="t" r="r" b="b"/>
            <a:pathLst>
              <a:path w="770954" h="793775">
                <a:moveTo>
                  <a:pt x="0" y="0"/>
                </a:moveTo>
                <a:lnTo>
                  <a:pt x="770954" y="0"/>
                </a:lnTo>
                <a:lnTo>
                  <a:pt x="770954" y="793775"/>
                </a:lnTo>
                <a:lnTo>
                  <a:pt x="0" y="793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4634041" y="5237354"/>
            <a:ext cx="807133" cy="1291413"/>
          </a:xfrm>
          <a:custGeom>
            <a:avLst/>
            <a:gdLst/>
            <a:ahLst/>
            <a:cxnLst/>
            <a:rect l="l" t="t" r="r" b="b"/>
            <a:pathLst>
              <a:path w="807133" h="1291413">
                <a:moveTo>
                  <a:pt x="0" y="0"/>
                </a:moveTo>
                <a:lnTo>
                  <a:pt x="807133" y="0"/>
                </a:lnTo>
                <a:lnTo>
                  <a:pt x="807133" y="1291412"/>
                </a:lnTo>
                <a:lnTo>
                  <a:pt x="0" y="12914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1796</Words>
  <Application>Microsoft Office PowerPoint</Application>
  <PresentationFormat>Custom</PresentationFormat>
  <Paragraphs>172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DX-OS: Cuộc thi PMNM 2026</dc:title>
  <cp:lastModifiedBy>Admin</cp:lastModifiedBy>
  <cp:revision>11</cp:revision>
  <dcterms:created xsi:type="dcterms:W3CDTF">2006-08-16T00:00:00Z</dcterms:created>
  <dcterms:modified xsi:type="dcterms:W3CDTF">2026-06-29T17:20:39Z</dcterms:modified>
  <dc:identifier>DAHN-dRuXHU</dc:identifier>
</cp:coreProperties>
</file>